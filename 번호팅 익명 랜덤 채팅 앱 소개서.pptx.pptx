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Nanum Square Bold" charset="1" panose="020B0600000101010101"/>
      <p:regular r:id="rId19"/>
    </p:embeddedFont>
    <p:embeddedFont>
      <p:font typeface="Inter Bold" charset="1" panose="02000503000000020004"/>
      <p:regular r:id="rId20"/>
    </p:embeddedFont>
    <p:embeddedFont>
      <p:font typeface="Telegraf" charset="1" panose="00000500000000000000"/>
      <p:regular r:id="rId21"/>
    </p:embeddedFont>
    <p:embeddedFont>
      <p:font typeface="Poppins Bold" charset="1" panose="00000800000000000000"/>
      <p:regular r:id="rId22"/>
    </p:embeddedFont>
    <p:embeddedFont>
      <p:font typeface="Poppins" charset="1" panose="000005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png" Type="http://schemas.openxmlformats.org/officeDocument/2006/relationships/image"/><Relationship Id="rId13" Target="../media/image12.png" Type="http://schemas.openxmlformats.org/officeDocument/2006/relationships/image"/><Relationship Id="rId14" Target="../media/image13.png" Type="http://schemas.openxmlformats.org/officeDocument/2006/relationships/image"/><Relationship Id="rId15" Target="../media/image14.png" Type="http://schemas.openxmlformats.org/officeDocument/2006/relationships/image"/><Relationship Id="rId16" Target="../media/image15.png" Type="http://schemas.openxmlformats.org/officeDocument/2006/relationships/image"/><Relationship Id="rId17" Target="../media/image16.png" Type="http://schemas.openxmlformats.org/officeDocument/2006/relationships/image"/><Relationship Id="rId18" Target="../media/image17.png" Type="http://schemas.openxmlformats.org/officeDocument/2006/relationships/image"/><Relationship Id="rId19" Target="../media/image18.png" Type="http://schemas.openxmlformats.org/officeDocument/2006/relationships/image"/><Relationship Id="rId2" Target="../media/image1.png" Type="http://schemas.openxmlformats.org/officeDocument/2006/relationships/image"/><Relationship Id="rId20" Target="../media/image19.png" Type="http://schemas.openxmlformats.org/officeDocument/2006/relationships/image"/><Relationship Id="rId21" Target="../media/image20.png" Type="http://schemas.openxmlformats.org/officeDocument/2006/relationships/image"/><Relationship Id="rId22" Target="../media/image21.png" Type="http://schemas.openxmlformats.org/officeDocument/2006/relationships/image"/><Relationship Id="rId23" Target="../media/image22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png" Type="http://schemas.openxmlformats.org/officeDocument/2006/relationships/image"/><Relationship Id="rId11" Target="../media/image32.svg" Type="http://schemas.openxmlformats.org/officeDocument/2006/relationships/image"/><Relationship Id="rId12" Target="../media/image33.png" Type="http://schemas.openxmlformats.org/officeDocument/2006/relationships/image"/><Relationship Id="rId13" Target="../media/image34.svg" Type="http://schemas.openxmlformats.org/officeDocument/2006/relationships/image"/><Relationship Id="rId2" Target="../media/image23.png" Type="http://schemas.openxmlformats.org/officeDocument/2006/relationships/image"/><Relationship Id="rId3" Target="../media/image24.svg" Type="http://schemas.openxmlformats.org/officeDocument/2006/relationships/image"/><Relationship Id="rId4" Target="../media/image25.png" Type="http://schemas.openxmlformats.org/officeDocument/2006/relationships/image"/><Relationship Id="rId5" Target="../media/image26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Relationship Id="rId8" Target="../media/image29.png" Type="http://schemas.openxmlformats.org/officeDocument/2006/relationships/image"/><Relationship Id="rId9" Target="../media/image3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png" Type="http://schemas.openxmlformats.org/officeDocument/2006/relationships/image"/><Relationship Id="rId4" Target="../media/image37.png" Type="http://schemas.openxmlformats.org/officeDocument/2006/relationships/image"/><Relationship Id="rId5" Target="../media/image38.svg" Type="http://schemas.openxmlformats.org/officeDocument/2006/relationships/image"/><Relationship Id="rId6" Target="../media/image39.png" Type="http://schemas.openxmlformats.org/officeDocument/2006/relationships/image"/><Relationship Id="rId7" Target="../media/image40.svg" Type="http://schemas.openxmlformats.org/officeDocument/2006/relationships/image"/><Relationship Id="rId8" Target="../media/image41.png" Type="http://schemas.openxmlformats.org/officeDocument/2006/relationships/image"/><Relationship Id="rId9" Target="../media/image42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png" Type="http://schemas.openxmlformats.org/officeDocument/2006/relationships/image"/><Relationship Id="rId4" Target="../media/image37.png" Type="http://schemas.openxmlformats.org/officeDocument/2006/relationships/image"/><Relationship Id="rId5" Target="../media/image38.svg" Type="http://schemas.openxmlformats.org/officeDocument/2006/relationships/image"/><Relationship Id="rId6" Target="../media/image39.png" Type="http://schemas.openxmlformats.org/officeDocument/2006/relationships/image"/><Relationship Id="rId7" Target="../media/image40.svg" Type="http://schemas.openxmlformats.org/officeDocument/2006/relationships/image"/><Relationship Id="rId8" Target="../media/image41.png" Type="http://schemas.openxmlformats.org/officeDocument/2006/relationships/image"/><Relationship Id="rId9" Target="../media/image42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png" Type="http://schemas.openxmlformats.org/officeDocument/2006/relationships/image"/><Relationship Id="rId4" Target="../media/image37.png" Type="http://schemas.openxmlformats.org/officeDocument/2006/relationships/image"/><Relationship Id="rId5" Target="../media/image38.svg" Type="http://schemas.openxmlformats.org/officeDocument/2006/relationships/image"/><Relationship Id="rId6" Target="../media/image39.png" Type="http://schemas.openxmlformats.org/officeDocument/2006/relationships/image"/><Relationship Id="rId7" Target="../media/image40.svg" Type="http://schemas.openxmlformats.org/officeDocument/2006/relationships/image"/><Relationship Id="rId8" Target="../media/image41.png" Type="http://schemas.openxmlformats.org/officeDocument/2006/relationships/image"/><Relationship Id="rId9" Target="../media/image42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png" Type="http://schemas.openxmlformats.org/officeDocument/2006/relationships/image"/><Relationship Id="rId4" Target="../media/image37.png" Type="http://schemas.openxmlformats.org/officeDocument/2006/relationships/image"/><Relationship Id="rId5" Target="../media/image38.svg" Type="http://schemas.openxmlformats.org/officeDocument/2006/relationships/image"/><Relationship Id="rId6" Target="../media/image39.png" Type="http://schemas.openxmlformats.org/officeDocument/2006/relationships/image"/><Relationship Id="rId7" Target="../media/image40.svg" Type="http://schemas.openxmlformats.org/officeDocument/2006/relationships/image"/><Relationship Id="rId8" Target="../media/image41.png" Type="http://schemas.openxmlformats.org/officeDocument/2006/relationships/image"/><Relationship Id="rId9" Target="../media/image42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png" Type="http://schemas.openxmlformats.org/officeDocument/2006/relationships/image"/><Relationship Id="rId4" Target="../media/image37.png" Type="http://schemas.openxmlformats.org/officeDocument/2006/relationships/image"/><Relationship Id="rId5" Target="../media/image38.svg" Type="http://schemas.openxmlformats.org/officeDocument/2006/relationships/image"/><Relationship Id="rId6" Target="../media/image39.png" Type="http://schemas.openxmlformats.org/officeDocument/2006/relationships/image"/><Relationship Id="rId7" Target="../media/image40.svg" Type="http://schemas.openxmlformats.org/officeDocument/2006/relationships/image"/><Relationship Id="rId8" Target="../media/image41.png" Type="http://schemas.openxmlformats.org/officeDocument/2006/relationships/image"/><Relationship Id="rId9" Target="../media/image42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png" Type="http://schemas.openxmlformats.org/officeDocument/2006/relationships/image"/><Relationship Id="rId4" Target="../media/image37.png" Type="http://schemas.openxmlformats.org/officeDocument/2006/relationships/image"/><Relationship Id="rId5" Target="../media/image38.svg" Type="http://schemas.openxmlformats.org/officeDocument/2006/relationships/image"/><Relationship Id="rId6" Target="../media/image39.png" Type="http://schemas.openxmlformats.org/officeDocument/2006/relationships/image"/><Relationship Id="rId7" Target="../media/image40.svg" Type="http://schemas.openxmlformats.org/officeDocument/2006/relationships/image"/><Relationship Id="rId8" Target="../media/image41.png" Type="http://schemas.openxmlformats.org/officeDocument/2006/relationships/image"/><Relationship Id="rId9" Target="../media/image42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4.jpeg" Type="http://schemas.openxmlformats.org/officeDocument/2006/relationships/image"/><Relationship Id="rId11" Target="../media/image45.jpeg" Type="http://schemas.openxmlformats.org/officeDocument/2006/relationships/image"/><Relationship Id="rId12" Target="../media/image46.jpeg" Type="http://schemas.openxmlformats.org/officeDocument/2006/relationships/image"/><Relationship Id="rId13" Target="../media/image47.jpeg" Type="http://schemas.openxmlformats.org/officeDocument/2006/relationships/image"/><Relationship Id="rId14" Target="../media/image48.png" Type="http://schemas.openxmlformats.org/officeDocument/2006/relationships/image"/><Relationship Id="rId2" Target="../media/image35.png" Type="http://schemas.openxmlformats.org/officeDocument/2006/relationships/image"/><Relationship Id="rId3" Target="../media/image36.png" Type="http://schemas.openxmlformats.org/officeDocument/2006/relationships/image"/><Relationship Id="rId4" Target="../media/image37.png" Type="http://schemas.openxmlformats.org/officeDocument/2006/relationships/image"/><Relationship Id="rId5" Target="../media/image38.svg" Type="http://schemas.openxmlformats.org/officeDocument/2006/relationships/image"/><Relationship Id="rId6" Target="../media/image39.png" Type="http://schemas.openxmlformats.org/officeDocument/2006/relationships/image"/><Relationship Id="rId7" Target="../media/image40.svg" Type="http://schemas.openxmlformats.org/officeDocument/2006/relationships/image"/><Relationship Id="rId8" Target="../media/image41.png" Type="http://schemas.openxmlformats.org/officeDocument/2006/relationships/image"/><Relationship Id="rId9" Target="../media/image42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png" Type="http://schemas.openxmlformats.org/officeDocument/2006/relationships/image"/><Relationship Id="rId4" Target="../media/image37.png" Type="http://schemas.openxmlformats.org/officeDocument/2006/relationships/image"/><Relationship Id="rId5" Target="../media/image38.svg" Type="http://schemas.openxmlformats.org/officeDocument/2006/relationships/image"/><Relationship Id="rId6" Target="../media/image39.png" Type="http://schemas.openxmlformats.org/officeDocument/2006/relationships/image"/><Relationship Id="rId7" Target="../media/image40.svg" Type="http://schemas.openxmlformats.org/officeDocument/2006/relationships/image"/><Relationship Id="rId8" Target="../media/image41.png" Type="http://schemas.openxmlformats.org/officeDocument/2006/relationships/image"/><Relationship Id="rId9" Target="../media/image42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3.png" Type="http://schemas.openxmlformats.org/officeDocument/2006/relationships/image"/><Relationship Id="rId5" Target="../media/image34.svg" Type="http://schemas.openxmlformats.org/officeDocument/2006/relationships/image"/><Relationship Id="rId6" Target="../media/image49.png" Type="http://schemas.openxmlformats.org/officeDocument/2006/relationships/image"/><Relationship Id="rId7" Target="../media/image50.svg" Type="http://schemas.openxmlformats.org/officeDocument/2006/relationships/image"/><Relationship Id="rId8" Target="../media/image51.png" Type="http://schemas.openxmlformats.org/officeDocument/2006/relationships/image"/><Relationship Id="rId9" Target="../media/image52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png" Type="http://schemas.openxmlformats.org/officeDocument/2006/relationships/image"/><Relationship Id="rId4" Target="../media/image37.png" Type="http://schemas.openxmlformats.org/officeDocument/2006/relationships/image"/><Relationship Id="rId5" Target="../media/image38.svg" Type="http://schemas.openxmlformats.org/officeDocument/2006/relationships/image"/><Relationship Id="rId6" Target="../media/image39.png" Type="http://schemas.openxmlformats.org/officeDocument/2006/relationships/image"/><Relationship Id="rId7" Target="../media/image40.svg" Type="http://schemas.openxmlformats.org/officeDocument/2006/relationships/image"/><Relationship Id="rId8" Target="../media/image41.png" Type="http://schemas.openxmlformats.org/officeDocument/2006/relationships/image"/><Relationship Id="rId9" Target="../media/image42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C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75730" y="-108004"/>
            <a:ext cx="18839459" cy="10502998"/>
            <a:chOff x="0" y="0"/>
            <a:chExt cx="25119279" cy="140039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119330" cy="14004037"/>
            </a:xfrm>
            <a:custGeom>
              <a:avLst/>
              <a:gdLst/>
              <a:ahLst/>
              <a:cxnLst/>
              <a:rect r="r" b="b" t="t" l="l"/>
              <a:pathLst>
                <a:path h="14004037" w="25119330">
                  <a:moveTo>
                    <a:pt x="0" y="0"/>
                  </a:moveTo>
                  <a:lnTo>
                    <a:pt x="25119330" y="0"/>
                  </a:lnTo>
                  <a:lnTo>
                    <a:pt x="25119330" y="14004037"/>
                  </a:lnTo>
                  <a:lnTo>
                    <a:pt x="0" y="14004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57" r="0" b="-5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614220" y="548440"/>
            <a:ext cx="684571" cy="656434"/>
            <a:chOff x="0" y="0"/>
            <a:chExt cx="912762" cy="87524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12749" cy="875284"/>
            </a:xfrm>
            <a:custGeom>
              <a:avLst/>
              <a:gdLst/>
              <a:ahLst/>
              <a:cxnLst/>
              <a:rect r="r" b="b" t="t" l="l"/>
              <a:pathLst>
                <a:path h="875284" w="912749">
                  <a:moveTo>
                    <a:pt x="0" y="0"/>
                  </a:moveTo>
                  <a:lnTo>
                    <a:pt x="912749" y="0"/>
                  </a:lnTo>
                  <a:lnTo>
                    <a:pt x="912749" y="875284"/>
                  </a:lnTo>
                  <a:lnTo>
                    <a:pt x="0" y="875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56" r="-1" b="-53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746866" y="565233"/>
            <a:ext cx="1733226" cy="484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2"/>
              </a:lnSpc>
            </a:pPr>
            <a:r>
              <a:rPr lang="en-US" sz="2337" b="true">
                <a:solidFill>
                  <a:srgbClr val="FFFFFF">
                    <a:alpha val="49412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Introduction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346705" y="565233"/>
            <a:ext cx="1168051" cy="484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2"/>
              </a:lnSpc>
            </a:pPr>
            <a:r>
              <a:rPr lang="en-US" sz="2337" b="true">
                <a:solidFill>
                  <a:srgbClr val="FFFFFF">
                    <a:alpha val="49412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Problem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419050" y="565233"/>
            <a:ext cx="1168051" cy="484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2"/>
              </a:lnSpc>
            </a:pPr>
            <a:r>
              <a:rPr lang="en-US" sz="2337" b="true">
                <a:solidFill>
                  <a:srgbClr val="FFFFFF">
                    <a:alpha val="49412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Solution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453714" y="571424"/>
            <a:ext cx="979656" cy="471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1"/>
              </a:lnSpc>
            </a:pPr>
            <a:r>
              <a:rPr lang="en-US" sz="2286" b="true">
                <a:solidFill>
                  <a:srgbClr val="FFFFFF">
                    <a:alpha val="49412"/>
                  </a:srgbClr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Market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0600" y="2266950"/>
            <a:ext cx="4762500" cy="1066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372"/>
              </a:lnSpc>
            </a:pPr>
            <a:r>
              <a:rPr lang="en-US" sz="9372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번호팅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90600" y="3619500"/>
            <a:ext cx="3836432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72"/>
              </a:lnSpc>
            </a:pPr>
            <a:r>
              <a:rPr lang="en-US" sz="5060">
                <a:solidFill>
                  <a:srgbClr val="FFFFFF"/>
                </a:solidFill>
                <a:latin typeface="Telegraf"/>
                <a:ea typeface="Telegraf"/>
                <a:cs typeface="Telegraf"/>
                <a:sym typeface="Telegraf"/>
              </a:rPr>
              <a:t>실</a:t>
            </a:r>
            <a:r>
              <a:rPr lang="en-US" sz="5060">
                <a:solidFill>
                  <a:srgbClr val="FFFFFF"/>
                </a:solidFill>
                <a:latin typeface="Telegraf"/>
                <a:ea typeface="Telegraf"/>
                <a:cs typeface="Telegraf"/>
                <a:sym typeface="Telegraf"/>
              </a:rPr>
              <a:t>명 랜덤 채팅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90600" y="4667250"/>
            <a:ext cx="5715000" cy="1230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400" b="true">
                <a:solidFill>
                  <a:srgbClr val="FFFFFF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대학생을 위한 실명 랜덤 채팅 앱.</a:t>
            </a:r>
          </a:p>
          <a:p>
            <a:pPr algn="l">
              <a:lnSpc>
                <a:spcPts val="3240"/>
              </a:lnSpc>
            </a:pPr>
            <a:r>
              <a:rPr lang="en-US" sz="2400" b="true">
                <a:solidFill>
                  <a:srgbClr val="FFFFFF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카카오 로그인으로 간편하게 접속하고, 실시간 매칭을 시작하세요.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375707" y="1861309"/>
            <a:ext cx="4956315" cy="7658433"/>
            <a:chOff x="0" y="0"/>
            <a:chExt cx="6608420" cy="1021124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608445" cy="10211308"/>
            </a:xfrm>
            <a:custGeom>
              <a:avLst/>
              <a:gdLst/>
              <a:ahLst/>
              <a:cxnLst/>
              <a:rect r="r" b="b" t="t" l="l"/>
              <a:pathLst>
                <a:path h="10211308" w="6608445">
                  <a:moveTo>
                    <a:pt x="0" y="0"/>
                  </a:moveTo>
                  <a:lnTo>
                    <a:pt x="6608445" y="0"/>
                  </a:lnTo>
                  <a:lnTo>
                    <a:pt x="6608445" y="10211308"/>
                  </a:lnTo>
                  <a:lnTo>
                    <a:pt x="0" y="10211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57" r="0" b="-56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0485768" y="2736561"/>
            <a:ext cx="2697223" cy="1750504"/>
            <a:chOff x="0" y="0"/>
            <a:chExt cx="3596297" cy="233400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596259" cy="2334006"/>
            </a:xfrm>
            <a:custGeom>
              <a:avLst/>
              <a:gdLst/>
              <a:ahLst/>
              <a:cxnLst/>
              <a:rect r="r" b="b" t="t" l="l"/>
              <a:pathLst>
                <a:path h="2334006" w="3596259">
                  <a:moveTo>
                    <a:pt x="0" y="0"/>
                  </a:moveTo>
                  <a:lnTo>
                    <a:pt x="3596259" y="0"/>
                  </a:lnTo>
                  <a:lnTo>
                    <a:pt x="3596259" y="2334006"/>
                  </a:lnTo>
                  <a:lnTo>
                    <a:pt x="0" y="23340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57" r="-1" b="-57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0033949" y="5799934"/>
            <a:ext cx="2478157" cy="1969313"/>
            <a:chOff x="0" y="0"/>
            <a:chExt cx="3304210" cy="262575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304159" cy="2625725"/>
            </a:xfrm>
            <a:custGeom>
              <a:avLst/>
              <a:gdLst/>
              <a:ahLst/>
              <a:cxnLst/>
              <a:rect r="r" b="b" t="t" l="l"/>
              <a:pathLst>
                <a:path h="2625725" w="3304159">
                  <a:moveTo>
                    <a:pt x="0" y="0"/>
                  </a:moveTo>
                  <a:lnTo>
                    <a:pt x="3304159" y="0"/>
                  </a:lnTo>
                  <a:lnTo>
                    <a:pt x="3304159" y="2625725"/>
                  </a:lnTo>
                  <a:lnTo>
                    <a:pt x="0" y="26257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57" r="-1" b="-58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4291996" y="6237561"/>
            <a:ext cx="2478157" cy="2188121"/>
            <a:chOff x="0" y="0"/>
            <a:chExt cx="3304210" cy="291749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304159" cy="2917444"/>
            </a:xfrm>
            <a:custGeom>
              <a:avLst/>
              <a:gdLst/>
              <a:ahLst/>
              <a:cxnLst/>
              <a:rect r="r" b="b" t="t" l="l"/>
              <a:pathLst>
                <a:path h="2917444" w="3304159">
                  <a:moveTo>
                    <a:pt x="0" y="0"/>
                  </a:moveTo>
                  <a:lnTo>
                    <a:pt x="3304159" y="0"/>
                  </a:lnTo>
                  <a:lnTo>
                    <a:pt x="3304159" y="2917444"/>
                  </a:lnTo>
                  <a:lnTo>
                    <a:pt x="0" y="2917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57" r="-1" b="-59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2950228" y="2298935"/>
            <a:ext cx="684571" cy="656434"/>
            <a:chOff x="0" y="0"/>
            <a:chExt cx="912762" cy="87524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12749" cy="875284"/>
            </a:xfrm>
            <a:custGeom>
              <a:avLst/>
              <a:gdLst/>
              <a:ahLst/>
              <a:cxnLst/>
              <a:rect r="r" b="b" t="t" l="l"/>
              <a:pathLst>
                <a:path h="875284" w="912749">
                  <a:moveTo>
                    <a:pt x="0" y="0"/>
                  </a:moveTo>
                  <a:lnTo>
                    <a:pt x="912749" y="0"/>
                  </a:lnTo>
                  <a:lnTo>
                    <a:pt x="912749" y="875284"/>
                  </a:lnTo>
                  <a:lnTo>
                    <a:pt x="0" y="875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56" r="-1" b="-53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2950228" y="2955379"/>
            <a:ext cx="903637" cy="437626"/>
            <a:chOff x="0" y="0"/>
            <a:chExt cx="1204849" cy="58350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04849" cy="583438"/>
            </a:xfrm>
            <a:custGeom>
              <a:avLst/>
              <a:gdLst/>
              <a:ahLst/>
              <a:cxnLst/>
              <a:rect r="r" b="b" t="t" l="l"/>
              <a:pathLst>
                <a:path h="583438" w="1204849">
                  <a:moveTo>
                    <a:pt x="0" y="0"/>
                  </a:moveTo>
                  <a:lnTo>
                    <a:pt x="1204849" y="0"/>
                  </a:lnTo>
                  <a:lnTo>
                    <a:pt x="1204849" y="583438"/>
                  </a:lnTo>
                  <a:lnTo>
                    <a:pt x="0" y="583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56" r="0" b="-69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3621112" y="3830622"/>
            <a:ext cx="1807274" cy="656434"/>
            <a:chOff x="0" y="0"/>
            <a:chExt cx="2409698" cy="87524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409698" cy="875284"/>
            </a:xfrm>
            <a:custGeom>
              <a:avLst/>
              <a:gdLst/>
              <a:ahLst/>
              <a:cxnLst/>
              <a:rect r="r" b="b" t="t" l="l"/>
              <a:pathLst>
                <a:path h="875284" w="2409698">
                  <a:moveTo>
                    <a:pt x="0" y="0"/>
                  </a:moveTo>
                  <a:lnTo>
                    <a:pt x="2409698" y="0"/>
                  </a:lnTo>
                  <a:lnTo>
                    <a:pt x="2409698" y="875284"/>
                  </a:lnTo>
                  <a:lnTo>
                    <a:pt x="0" y="875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-58" r="0" b="-52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2498410" y="4487066"/>
            <a:ext cx="917324" cy="437626"/>
            <a:chOff x="0" y="0"/>
            <a:chExt cx="1223099" cy="58350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23137" cy="583438"/>
            </a:xfrm>
            <a:custGeom>
              <a:avLst/>
              <a:gdLst/>
              <a:ahLst/>
              <a:cxnLst/>
              <a:rect r="r" b="b" t="t" l="l"/>
              <a:pathLst>
                <a:path h="583438" w="1223137">
                  <a:moveTo>
                    <a:pt x="0" y="0"/>
                  </a:moveTo>
                  <a:lnTo>
                    <a:pt x="1223137" y="0"/>
                  </a:lnTo>
                  <a:lnTo>
                    <a:pt x="1223137" y="583438"/>
                  </a:lnTo>
                  <a:lnTo>
                    <a:pt x="0" y="583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-56" r="3" b="-69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2950228" y="5362308"/>
            <a:ext cx="2259092" cy="656434"/>
            <a:chOff x="0" y="0"/>
            <a:chExt cx="3012122" cy="87524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012186" cy="875284"/>
            </a:xfrm>
            <a:custGeom>
              <a:avLst/>
              <a:gdLst/>
              <a:ahLst/>
              <a:cxnLst/>
              <a:rect r="r" b="b" t="t" l="l"/>
              <a:pathLst>
                <a:path h="875284" w="3012186">
                  <a:moveTo>
                    <a:pt x="0" y="0"/>
                  </a:moveTo>
                  <a:lnTo>
                    <a:pt x="3012186" y="0"/>
                  </a:lnTo>
                  <a:lnTo>
                    <a:pt x="3012186" y="875284"/>
                  </a:lnTo>
                  <a:lnTo>
                    <a:pt x="0" y="875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-58" r="2" b="-52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2498410" y="6018752"/>
            <a:ext cx="1807274" cy="875252"/>
            <a:chOff x="0" y="0"/>
            <a:chExt cx="2409698" cy="1167003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409698" cy="1167003"/>
            </a:xfrm>
            <a:custGeom>
              <a:avLst/>
              <a:gdLst/>
              <a:ahLst/>
              <a:cxnLst/>
              <a:rect r="r" b="b" t="t" l="l"/>
              <a:pathLst>
                <a:path h="1167003" w="2409698">
                  <a:moveTo>
                    <a:pt x="0" y="0"/>
                  </a:moveTo>
                  <a:lnTo>
                    <a:pt x="2409698" y="0"/>
                  </a:lnTo>
                  <a:lnTo>
                    <a:pt x="2409698" y="1167003"/>
                  </a:lnTo>
                  <a:lnTo>
                    <a:pt x="0" y="1167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-57" r="0" b="-56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1827526" y="7988065"/>
            <a:ext cx="2710910" cy="875252"/>
            <a:chOff x="0" y="0"/>
            <a:chExt cx="3614547" cy="1167003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614547" cy="1167003"/>
            </a:xfrm>
            <a:custGeom>
              <a:avLst/>
              <a:gdLst/>
              <a:ahLst/>
              <a:cxnLst/>
              <a:rect r="r" b="b" t="t" l="l"/>
              <a:pathLst>
                <a:path h="1167003" w="3614547">
                  <a:moveTo>
                    <a:pt x="0" y="0"/>
                  </a:moveTo>
                  <a:lnTo>
                    <a:pt x="3614547" y="0"/>
                  </a:lnTo>
                  <a:lnTo>
                    <a:pt x="3614547" y="1167003"/>
                  </a:lnTo>
                  <a:lnTo>
                    <a:pt x="0" y="1167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-57" r="0" b="-56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3621112" y="8206873"/>
            <a:ext cx="917324" cy="656434"/>
            <a:chOff x="0" y="0"/>
            <a:chExt cx="1223099" cy="87524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223137" cy="875284"/>
            </a:xfrm>
            <a:custGeom>
              <a:avLst/>
              <a:gdLst/>
              <a:ahLst/>
              <a:cxnLst/>
              <a:rect r="r" b="b" t="t" l="l"/>
              <a:pathLst>
                <a:path h="875284" w="1223137">
                  <a:moveTo>
                    <a:pt x="0" y="0"/>
                  </a:moveTo>
                  <a:lnTo>
                    <a:pt x="1223137" y="0"/>
                  </a:lnTo>
                  <a:lnTo>
                    <a:pt x="1223137" y="875284"/>
                  </a:lnTo>
                  <a:lnTo>
                    <a:pt x="0" y="875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-58" r="3" b="-52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0937586" y="2955379"/>
            <a:ext cx="684571" cy="656434"/>
            <a:chOff x="0" y="0"/>
            <a:chExt cx="912762" cy="87524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912749" cy="875284"/>
            </a:xfrm>
            <a:custGeom>
              <a:avLst/>
              <a:gdLst/>
              <a:ahLst/>
              <a:cxnLst/>
              <a:rect r="r" b="b" t="t" l="l"/>
              <a:pathLst>
                <a:path h="875284" w="912749">
                  <a:moveTo>
                    <a:pt x="0" y="0"/>
                  </a:moveTo>
                  <a:lnTo>
                    <a:pt x="912749" y="0"/>
                  </a:lnTo>
                  <a:lnTo>
                    <a:pt x="912749" y="875284"/>
                  </a:lnTo>
                  <a:lnTo>
                    <a:pt x="0" y="875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-56" r="-1" b="-53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0937586" y="6018752"/>
            <a:ext cx="684571" cy="656434"/>
            <a:chOff x="0" y="0"/>
            <a:chExt cx="912762" cy="87524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912749" cy="875284"/>
            </a:xfrm>
            <a:custGeom>
              <a:avLst/>
              <a:gdLst/>
              <a:ahLst/>
              <a:cxnLst/>
              <a:rect r="r" b="b" t="t" l="l"/>
              <a:pathLst>
                <a:path h="875284" w="912749">
                  <a:moveTo>
                    <a:pt x="0" y="0"/>
                  </a:moveTo>
                  <a:lnTo>
                    <a:pt x="912749" y="0"/>
                  </a:lnTo>
                  <a:lnTo>
                    <a:pt x="912749" y="875284"/>
                  </a:lnTo>
                  <a:lnTo>
                    <a:pt x="0" y="875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-58" r="-1" b="-52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4743814" y="6456378"/>
            <a:ext cx="465506" cy="656434"/>
            <a:chOff x="0" y="0"/>
            <a:chExt cx="620674" cy="875246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620649" cy="875284"/>
            </a:xfrm>
            <a:custGeom>
              <a:avLst/>
              <a:gdLst/>
              <a:ahLst/>
              <a:cxnLst/>
              <a:rect r="r" b="b" t="t" l="l"/>
              <a:pathLst>
                <a:path h="875284" w="620649">
                  <a:moveTo>
                    <a:pt x="0" y="0"/>
                  </a:moveTo>
                  <a:lnTo>
                    <a:pt x="620649" y="0"/>
                  </a:lnTo>
                  <a:lnTo>
                    <a:pt x="620649" y="875284"/>
                  </a:lnTo>
                  <a:lnTo>
                    <a:pt x="0" y="875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-58" r="-4" b="-52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5647451" y="3611813"/>
            <a:ext cx="684571" cy="875252"/>
            <a:chOff x="0" y="0"/>
            <a:chExt cx="912762" cy="1167003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912749" cy="1167003"/>
            </a:xfrm>
            <a:custGeom>
              <a:avLst/>
              <a:gdLst/>
              <a:ahLst/>
              <a:cxnLst/>
              <a:rect r="r" b="b" t="t" l="l"/>
              <a:pathLst>
                <a:path h="1167003" w="912749">
                  <a:moveTo>
                    <a:pt x="0" y="0"/>
                  </a:moveTo>
                  <a:lnTo>
                    <a:pt x="912749" y="0"/>
                  </a:lnTo>
                  <a:lnTo>
                    <a:pt x="912749" y="1167003"/>
                  </a:lnTo>
                  <a:lnTo>
                    <a:pt x="0" y="1167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-57" r="-1" b="-56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6537391" y="3611813"/>
            <a:ext cx="684571" cy="875252"/>
            <a:chOff x="0" y="0"/>
            <a:chExt cx="912762" cy="1167003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912749" cy="1167003"/>
            </a:xfrm>
            <a:custGeom>
              <a:avLst/>
              <a:gdLst/>
              <a:ahLst/>
              <a:cxnLst/>
              <a:rect r="r" b="b" t="t" l="l"/>
              <a:pathLst>
                <a:path h="1167003" w="912749">
                  <a:moveTo>
                    <a:pt x="0" y="0"/>
                  </a:moveTo>
                  <a:lnTo>
                    <a:pt x="912749" y="0"/>
                  </a:lnTo>
                  <a:lnTo>
                    <a:pt x="912749" y="1167003"/>
                  </a:lnTo>
                  <a:lnTo>
                    <a:pt x="0" y="1167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-57" r="-1" b="-56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6537391" y="8206873"/>
            <a:ext cx="1355455" cy="1312878"/>
            <a:chOff x="0" y="0"/>
            <a:chExt cx="1807274" cy="175050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807337" cy="1750441"/>
            </a:xfrm>
            <a:custGeom>
              <a:avLst/>
              <a:gdLst/>
              <a:ahLst/>
              <a:cxnLst/>
              <a:rect r="r" b="b" t="t" l="l"/>
              <a:pathLst>
                <a:path h="1750441" w="1807337">
                  <a:moveTo>
                    <a:pt x="0" y="0"/>
                  </a:moveTo>
                  <a:lnTo>
                    <a:pt x="1807337" y="0"/>
                  </a:lnTo>
                  <a:lnTo>
                    <a:pt x="1807337" y="1750441"/>
                  </a:lnTo>
                  <a:lnTo>
                    <a:pt x="0" y="17504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0" t="-57" r="3" b="-6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6756456" y="2080127"/>
            <a:ext cx="917324" cy="875252"/>
            <a:chOff x="0" y="0"/>
            <a:chExt cx="1223099" cy="1167003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223137" cy="1167003"/>
            </a:xfrm>
            <a:custGeom>
              <a:avLst/>
              <a:gdLst/>
              <a:ahLst/>
              <a:cxnLst/>
              <a:rect r="r" b="b" t="t" l="l"/>
              <a:pathLst>
                <a:path h="1167003" w="1223137">
                  <a:moveTo>
                    <a:pt x="0" y="0"/>
                  </a:moveTo>
                  <a:lnTo>
                    <a:pt x="1223137" y="0"/>
                  </a:lnTo>
                  <a:lnTo>
                    <a:pt x="1223137" y="1167003"/>
                  </a:lnTo>
                  <a:lnTo>
                    <a:pt x="0" y="1167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0" t="-57" r="3" b="-56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9582131" y="5362308"/>
            <a:ext cx="684571" cy="656434"/>
            <a:chOff x="0" y="0"/>
            <a:chExt cx="912762" cy="875246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912749" cy="875284"/>
            </a:xfrm>
            <a:custGeom>
              <a:avLst/>
              <a:gdLst/>
              <a:ahLst/>
              <a:cxnLst/>
              <a:rect r="r" b="b" t="t" l="l"/>
              <a:pathLst>
                <a:path h="875284" w="912749">
                  <a:moveTo>
                    <a:pt x="0" y="0"/>
                  </a:moveTo>
                  <a:lnTo>
                    <a:pt x="912749" y="0"/>
                  </a:lnTo>
                  <a:lnTo>
                    <a:pt x="912749" y="875284"/>
                  </a:lnTo>
                  <a:lnTo>
                    <a:pt x="0" y="875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-58" r="-1" b="-52"/>
              </a:stretch>
            </a:blipFill>
          </p:spPr>
        </p:sp>
      </p:grpSp>
      <p:sp>
        <p:nvSpPr>
          <p:cNvPr name="TextBox 53" id="53"/>
          <p:cNvSpPr txBox="true"/>
          <p:nvPr/>
        </p:nvSpPr>
        <p:spPr>
          <a:xfrm rot="0">
            <a:off x="1344463" y="547945"/>
            <a:ext cx="941975" cy="518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27"/>
              </a:lnSpc>
            </a:pPr>
            <a:r>
              <a:rPr lang="en-US" sz="2591" b="true">
                <a:solidFill>
                  <a:srgbClr val="FFFFFF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번호팅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C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338174" y="-2724102"/>
            <a:ext cx="15411355" cy="15411355"/>
          </a:xfrm>
          <a:custGeom>
            <a:avLst/>
            <a:gdLst/>
            <a:ahLst/>
            <a:cxnLst/>
            <a:rect r="r" b="b" t="t" l="l"/>
            <a:pathLst>
              <a:path h="15411355" w="15411355">
                <a:moveTo>
                  <a:pt x="0" y="0"/>
                </a:moveTo>
                <a:lnTo>
                  <a:pt x="15411355" y="0"/>
                </a:lnTo>
                <a:lnTo>
                  <a:pt x="15411355" y="15411354"/>
                </a:lnTo>
                <a:lnTo>
                  <a:pt x="0" y="154113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3468405" y="-5936390"/>
            <a:ext cx="11395262" cy="11395262"/>
          </a:xfrm>
          <a:custGeom>
            <a:avLst/>
            <a:gdLst/>
            <a:ahLst/>
            <a:cxnLst/>
            <a:rect r="r" b="b" t="t" l="l"/>
            <a:pathLst>
              <a:path h="11395262" w="11395262">
                <a:moveTo>
                  <a:pt x="0" y="0"/>
                </a:moveTo>
                <a:lnTo>
                  <a:pt x="11395262" y="0"/>
                </a:lnTo>
                <a:lnTo>
                  <a:pt x="11395262" y="11395263"/>
                </a:lnTo>
                <a:lnTo>
                  <a:pt x="0" y="1139526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125781" y="-5900271"/>
            <a:ext cx="10090137" cy="10090137"/>
          </a:xfrm>
          <a:custGeom>
            <a:avLst/>
            <a:gdLst/>
            <a:ahLst/>
            <a:cxnLst/>
            <a:rect r="r" b="b" t="t" l="l"/>
            <a:pathLst>
              <a:path h="10090137" w="10090137">
                <a:moveTo>
                  <a:pt x="0" y="0"/>
                </a:moveTo>
                <a:lnTo>
                  <a:pt x="10090137" y="0"/>
                </a:lnTo>
                <a:lnTo>
                  <a:pt x="10090137" y="10090138"/>
                </a:lnTo>
                <a:lnTo>
                  <a:pt x="0" y="100901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253441" y="8252441"/>
            <a:ext cx="1005859" cy="1005859"/>
          </a:xfrm>
          <a:custGeom>
            <a:avLst/>
            <a:gdLst/>
            <a:ahLst/>
            <a:cxnLst/>
            <a:rect r="r" b="b" t="t" l="l"/>
            <a:pathLst>
              <a:path h="1005859" w="1005859">
                <a:moveTo>
                  <a:pt x="0" y="0"/>
                </a:moveTo>
                <a:lnTo>
                  <a:pt x="1005859" y="0"/>
                </a:lnTo>
                <a:lnTo>
                  <a:pt x="1005859" y="1005859"/>
                </a:lnTo>
                <a:lnTo>
                  <a:pt x="0" y="100585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1255062" y="5604053"/>
            <a:ext cx="10399062" cy="10399062"/>
          </a:xfrm>
          <a:custGeom>
            <a:avLst/>
            <a:gdLst/>
            <a:ahLst/>
            <a:cxnLst/>
            <a:rect r="r" b="b" t="t" l="l"/>
            <a:pathLst>
              <a:path h="10399062" w="10399062">
                <a:moveTo>
                  <a:pt x="0" y="0"/>
                </a:moveTo>
                <a:lnTo>
                  <a:pt x="10399062" y="0"/>
                </a:lnTo>
                <a:lnTo>
                  <a:pt x="10399062" y="10399061"/>
                </a:lnTo>
                <a:lnTo>
                  <a:pt x="0" y="1039906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524000" y="1952625"/>
            <a:ext cx="9544050" cy="1379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67"/>
              </a:lnSpc>
            </a:pPr>
            <a:r>
              <a:rPr lang="en-US" sz="761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팀 카페인중독 소개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24000" y="4895850"/>
            <a:ext cx="11115675" cy="574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563"/>
              </a:lnSpc>
            </a:pPr>
            <a:r>
              <a:rPr lang="en-US" sz="326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팀 카페인중독 - 3인 팀 프로젝트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24000" y="6800850"/>
            <a:ext cx="3686175" cy="459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강</a:t>
            </a:r>
            <a:r>
              <a:rPr lang="en-US" sz="255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태철 (Front-End)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24000" y="7486650"/>
            <a:ext cx="3686175" cy="6601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63"/>
              </a:lnSpc>
            </a:pPr>
            <a:r>
              <a:rPr lang="en-US" sz="176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UI/UX 디자인, 로그인/프로필/채팅/랜덤매칭 화면 제작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296025" y="6800850"/>
            <a:ext cx="3686175" cy="459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박건</a:t>
            </a:r>
            <a:r>
              <a:rPr lang="en-US" sz="255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욱 (Back-End, 팀장)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296025" y="7486650"/>
            <a:ext cx="3686175" cy="612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63"/>
              </a:lnSpc>
            </a:pPr>
            <a:r>
              <a:rPr lang="en-US" sz="176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Kakao Login API 연동, 사용자 데이터 처리, 이메일 인증, .전체 프로젝트 관리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068050" y="6819900"/>
            <a:ext cx="3686175" cy="459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이</a:t>
            </a:r>
            <a:r>
              <a:rPr lang="en-US" sz="255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동희 (Back-End)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068050" y="7505700"/>
            <a:ext cx="3067050" cy="6601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63"/>
              </a:lnSpc>
            </a:pPr>
            <a:r>
              <a:rPr lang="en-US" sz="176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Socket 기반 실시간 채팅 구현, 랜덤 매칭 기능, 채팅방 처리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-440836" y="574681"/>
            <a:ext cx="4385300" cy="879824"/>
          </a:xfrm>
          <a:custGeom>
            <a:avLst/>
            <a:gdLst/>
            <a:ahLst/>
            <a:cxnLst/>
            <a:rect r="r" b="b" t="t" l="l"/>
            <a:pathLst>
              <a:path h="879824" w="4385300">
                <a:moveTo>
                  <a:pt x="0" y="0"/>
                </a:moveTo>
                <a:lnTo>
                  <a:pt x="4385300" y="0"/>
                </a:lnTo>
                <a:lnTo>
                  <a:pt x="4385300" y="879825"/>
                </a:lnTo>
                <a:lnTo>
                  <a:pt x="0" y="87982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352425" y="714375"/>
            <a:ext cx="3324225" cy="5332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81"/>
              </a:lnSpc>
            </a:pPr>
            <a:r>
              <a:rPr lang="en-US" sz="2629" b="true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번호팅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890574" y="643909"/>
            <a:ext cx="1589189" cy="37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86"/>
              </a:lnSpc>
            </a:pPr>
            <a:r>
              <a:rPr lang="en-US" sz="1918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기술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5034327" y="665874"/>
            <a:ext cx="2224973" cy="37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86"/>
              </a:lnSpc>
            </a:pPr>
            <a:r>
              <a:rPr lang="en-US" sz="1918" b="true">
                <a:solidFill>
                  <a:srgbClr val="FFFFFF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팀 소개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144000" y="665874"/>
            <a:ext cx="1662551" cy="37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86"/>
              </a:lnSpc>
            </a:pPr>
            <a:r>
              <a:rPr lang="en-US" sz="1918" b="true">
                <a:solidFill>
                  <a:srgbClr val="FFFFFF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홈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609451" y="665874"/>
            <a:ext cx="1907086" cy="37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86"/>
              </a:lnSpc>
            </a:pPr>
            <a:r>
              <a:rPr lang="en-US" sz="1918" b="true">
                <a:solidFill>
                  <a:srgbClr val="FFFFFF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소개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100000">
              <a:srgbClr val="C7C9FF">
                <a:alpha val="69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155953" y="8131435"/>
            <a:ext cx="1245603" cy="1247727"/>
            <a:chOff x="0" y="0"/>
            <a:chExt cx="1660804" cy="16636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60779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0779">
                  <a:moveTo>
                    <a:pt x="0" y="0"/>
                  </a:moveTo>
                  <a:lnTo>
                    <a:pt x="1660779" y="0"/>
                  </a:lnTo>
                  <a:lnTo>
                    <a:pt x="1660779" y="1663700"/>
                  </a:lnTo>
                  <a:lnTo>
                    <a:pt x="0" y="1663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27" r="-1" b="-12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311158" y="-2289153"/>
            <a:ext cx="13467550" cy="17020604"/>
            <a:chOff x="0" y="0"/>
            <a:chExt cx="17956733" cy="226941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956785" cy="22694137"/>
            </a:xfrm>
            <a:custGeom>
              <a:avLst/>
              <a:gdLst/>
              <a:ahLst/>
              <a:cxnLst/>
              <a:rect r="r" b="b" t="t" l="l"/>
              <a:pathLst>
                <a:path h="22694137" w="17956785">
                  <a:moveTo>
                    <a:pt x="0" y="0"/>
                  </a:moveTo>
                  <a:lnTo>
                    <a:pt x="17956785" y="0"/>
                  </a:lnTo>
                  <a:lnTo>
                    <a:pt x="17956785" y="22694137"/>
                  </a:lnTo>
                  <a:lnTo>
                    <a:pt x="0" y="22694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20999"/>
              </a:blip>
              <a:stretch>
                <a:fillRect l="-58" t="0" r="-57" b="0"/>
              </a:stretch>
            </a:blip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0995365" y="-5584831"/>
            <a:ext cx="12527861" cy="12527861"/>
          </a:xfrm>
          <a:custGeom>
            <a:avLst/>
            <a:gdLst/>
            <a:ahLst/>
            <a:cxnLst/>
            <a:rect r="r" b="b" t="t" l="l"/>
            <a:pathLst>
              <a:path h="12527861" w="12527861">
                <a:moveTo>
                  <a:pt x="0" y="0"/>
                </a:moveTo>
                <a:lnTo>
                  <a:pt x="12527861" y="0"/>
                </a:lnTo>
                <a:lnTo>
                  <a:pt x="12527861" y="12527861"/>
                </a:lnTo>
                <a:lnTo>
                  <a:pt x="0" y="1252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702892" y="-3877304"/>
            <a:ext cx="9112806" cy="9112806"/>
          </a:xfrm>
          <a:custGeom>
            <a:avLst/>
            <a:gdLst/>
            <a:ahLst/>
            <a:cxnLst/>
            <a:rect r="r" b="b" t="t" l="l"/>
            <a:pathLst>
              <a:path h="9112806" w="9112806">
                <a:moveTo>
                  <a:pt x="0" y="0"/>
                </a:moveTo>
                <a:lnTo>
                  <a:pt x="9112806" y="0"/>
                </a:lnTo>
                <a:lnTo>
                  <a:pt x="9112806" y="9112806"/>
                </a:lnTo>
                <a:lnTo>
                  <a:pt x="0" y="91128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686401" y="1825200"/>
            <a:ext cx="10181939" cy="2014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13"/>
              </a:lnSpc>
            </a:pPr>
            <a:r>
              <a:rPr lang="en-US" sz="9652" b="tru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주요 기능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86401" y="3104845"/>
            <a:ext cx="6241171" cy="2337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67"/>
              </a:lnSpc>
            </a:pPr>
            <a:r>
              <a:rPr lang="en-US" sz="11262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Features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04975" y="5715000"/>
            <a:ext cx="7962900" cy="14735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31"/>
              </a:lnSpc>
            </a:pPr>
            <a:r>
              <a:rPr lang="en-US" sz="2736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실명</a:t>
            </a:r>
            <a:r>
              <a:rPr lang="en-US" sz="2736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랜덤 매칭 시스템으로 성별 기준 매칭 후 </a:t>
            </a:r>
          </a:p>
          <a:p>
            <a:pPr algn="just">
              <a:lnSpc>
                <a:spcPts val="3831"/>
              </a:lnSpc>
            </a:pPr>
            <a:r>
              <a:rPr lang="en-US" sz="2736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자동 채팅방 생성. </a:t>
            </a:r>
          </a:p>
          <a:p>
            <a:pPr algn="just">
              <a:lnSpc>
                <a:spcPts val="3832"/>
              </a:lnSpc>
            </a:pPr>
            <a:r>
              <a:rPr lang="en-US" sz="2736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Socket 기반 실시간 1:1 채팅을 지원합니다.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440836" y="574681"/>
            <a:ext cx="4385300" cy="879824"/>
          </a:xfrm>
          <a:custGeom>
            <a:avLst/>
            <a:gdLst/>
            <a:ahLst/>
            <a:cxnLst/>
            <a:rect r="r" b="b" t="t" l="l"/>
            <a:pathLst>
              <a:path h="879824" w="4385300">
                <a:moveTo>
                  <a:pt x="0" y="0"/>
                </a:moveTo>
                <a:lnTo>
                  <a:pt x="4385300" y="0"/>
                </a:lnTo>
                <a:lnTo>
                  <a:pt x="4385300" y="879825"/>
                </a:lnTo>
                <a:lnTo>
                  <a:pt x="0" y="87982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52425" y="714375"/>
            <a:ext cx="3324225" cy="5322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37"/>
              </a:lnSpc>
            </a:pPr>
            <a:r>
              <a:rPr lang="en-US" sz="266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번호팅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890574" y="624859"/>
            <a:ext cx="1589189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49" b="tru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기능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034327" y="646824"/>
            <a:ext cx="2224973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보안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144000" y="646824"/>
            <a:ext cx="1662551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홈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09451" y="646824"/>
            <a:ext cx="1907086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소개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4975" y="7486650"/>
            <a:ext cx="7962900" cy="9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31"/>
              </a:lnSpc>
            </a:pPr>
            <a:r>
              <a:rPr lang="en-US" sz="2736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학교 이메일 인증으로 재학생만 참여 가능. </a:t>
            </a:r>
          </a:p>
          <a:p>
            <a:pPr algn="just">
              <a:lnSpc>
                <a:spcPts val="3832"/>
              </a:lnSpc>
            </a:pPr>
            <a:r>
              <a:rPr lang="en-US" sz="2736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Kakao Login API 연동으로 간편 로그인. 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390" t="0" r="-390" b="0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100000">
              <a:srgbClr val="C7C9FF">
                <a:alpha val="69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155953" y="8131435"/>
            <a:ext cx="1245603" cy="1247727"/>
            <a:chOff x="0" y="0"/>
            <a:chExt cx="1660804" cy="16636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60779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0779">
                  <a:moveTo>
                    <a:pt x="0" y="0"/>
                  </a:moveTo>
                  <a:lnTo>
                    <a:pt x="1660779" y="0"/>
                  </a:lnTo>
                  <a:lnTo>
                    <a:pt x="1660779" y="1663700"/>
                  </a:lnTo>
                  <a:lnTo>
                    <a:pt x="0" y="1663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27" r="-1" b="-12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311158" y="-2289153"/>
            <a:ext cx="13467550" cy="17020604"/>
            <a:chOff x="0" y="0"/>
            <a:chExt cx="17956733" cy="226941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956785" cy="22694137"/>
            </a:xfrm>
            <a:custGeom>
              <a:avLst/>
              <a:gdLst/>
              <a:ahLst/>
              <a:cxnLst/>
              <a:rect r="r" b="b" t="t" l="l"/>
              <a:pathLst>
                <a:path h="22694137" w="17956785">
                  <a:moveTo>
                    <a:pt x="0" y="0"/>
                  </a:moveTo>
                  <a:lnTo>
                    <a:pt x="17956785" y="0"/>
                  </a:lnTo>
                  <a:lnTo>
                    <a:pt x="17956785" y="22694137"/>
                  </a:lnTo>
                  <a:lnTo>
                    <a:pt x="0" y="22694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20999"/>
              </a:blip>
              <a:stretch>
                <a:fillRect l="-58" t="0" r="-57" b="0"/>
              </a:stretch>
            </a:blip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0995365" y="-5584831"/>
            <a:ext cx="12527861" cy="12527861"/>
          </a:xfrm>
          <a:custGeom>
            <a:avLst/>
            <a:gdLst/>
            <a:ahLst/>
            <a:cxnLst/>
            <a:rect r="r" b="b" t="t" l="l"/>
            <a:pathLst>
              <a:path h="12527861" w="12527861">
                <a:moveTo>
                  <a:pt x="0" y="0"/>
                </a:moveTo>
                <a:lnTo>
                  <a:pt x="12527861" y="0"/>
                </a:lnTo>
                <a:lnTo>
                  <a:pt x="12527861" y="12527861"/>
                </a:lnTo>
                <a:lnTo>
                  <a:pt x="0" y="1252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702892" y="-3877304"/>
            <a:ext cx="9112806" cy="9112806"/>
          </a:xfrm>
          <a:custGeom>
            <a:avLst/>
            <a:gdLst/>
            <a:ahLst/>
            <a:cxnLst/>
            <a:rect r="r" b="b" t="t" l="l"/>
            <a:pathLst>
              <a:path h="9112806" w="9112806">
                <a:moveTo>
                  <a:pt x="0" y="0"/>
                </a:moveTo>
                <a:lnTo>
                  <a:pt x="9112806" y="0"/>
                </a:lnTo>
                <a:lnTo>
                  <a:pt x="9112806" y="9112806"/>
                </a:lnTo>
                <a:lnTo>
                  <a:pt x="0" y="91128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685925" y="1809750"/>
            <a:ext cx="10182225" cy="2139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2"/>
              </a:lnSpc>
            </a:pPr>
            <a:r>
              <a:rPr lang="en-US" sz="10294" b="tru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기술 스택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85925" y="3714750"/>
            <a:ext cx="6248400" cy="720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87"/>
              </a:lnSpc>
            </a:pPr>
            <a:r>
              <a:rPr lang="en-US" sz="3490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Tech Stack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85925" y="4619625"/>
            <a:ext cx="8493122" cy="2086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194"/>
              </a:lnSpc>
            </a:pPr>
            <a:r>
              <a:rPr lang="en-US" sz="2995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Front-End</a:t>
            </a:r>
          </a:p>
          <a:p>
            <a:pPr algn="just">
              <a:lnSpc>
                <a:spcPts val="4194"/>
              </a:lnSpc>
            </a:pPr>
          </a:p>
          <a:p>
            <a:pPr algn="just">
              <a:lnSpc>
                <a:spcPts val="4194"/>
              </a:lnSpc>
            </a:pPr>
            <a:r>
              <a:rPr lang="en-US" sz="2995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Flutter - 모바일 앱 개발</a:t>
            </a:r>
          </a:p>
          <a:p>
            <a:pPr algn="just">
              <a:lnSpc>
                <a:spcPts val="4194"/>
              </a:lnSpc>
            </a:pPr>
            <a:r>
              <a:rPr lang="en-US" sz="2995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Dart - Flutter 개발 언어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440836" y="574681"/>
            <a:ext cx="4385300" cy="879824"/>
          </a:xfrm>
          <a:custGeom>
            <a:avLst/>
            <a:gdLst/>
            <a:ahLst/>
            <a:cxnLst/>
            <a:rect r="r" b="b" t="t" l="l"/>
            <a:pathLst>
              <a:path h="879824" w="4385300">
                <a:moveTo>
                  <a:pt x="0" y="0"/>
                </a:moveTo>
                <a:lnTo>
                  <a:pt x="4385300" y="0"/>
                </a:lnTo>
                <a:lnTo>
                  <a:pt x="4385300" y="879825"/>
                </a:lnTo>
                <a:lnTo>
                  <a:pt x="0" y="87982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52425" y="714375"/>
            <a:ext cx="3324225" cy="5322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37"/>
              </a:lnSpc>
            </a:pPr>
            <a:r>
              <a:rPr lang="en-US" sz="266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번호팅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887450" y="628650"/>
            <a:ext cx="1590675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50" b="tru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기술 스택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030450" y="647700"/>
            <a:ext cx="2228850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50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구조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144000" y="646824"/>
            <a:ext cx="1662551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홈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09451" y="646824"/>
            <a:ext cx="1907086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소개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693103" y="4610100"/>
            <a:ext cx="10019579" cy="3917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22"/>
              </a:lnSpc>
            </a:pPr>
            <a:r>
              <a:rPr lang="en-US" sz="2801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Back-End</a:t>
            </a:r>
          </a:p>
          <a:p>
            <a:pPr algn="just">
              <a:lnSpc>
                <a:spcPts val="3922"/>
              </a:lnSpc>
            </a:pPr>
          </a:p>
          <a:p>
            <a:pPr algn="just">
              <a:lnSpc>
                <a:spcPts val="3922"/>
              </a:lnSpc>
            </a:pPr>
            <a:r>
              <a:rPr lang="en-US" sz="2801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Socket - 실시간 채팅 통신</a:t>
            </a:r>
          </a:p>
          <a:p>
            <a:pPr algn="just">
              <a:lnSpc>
                <a:spcPts val="3922"/>
              </a:lnSpc>
            </a:pPr>
            <a:r>
              <a:rPr lang="en-US" sz="2801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Kakao Login API - 카카오 로그인</a:t>
            </a:r>
          </a:p>
          <a:p>
            <a:pPr algn="just">
              <a:lnSpc>
                <a:spcPts val="3922"/>
              </a:lnSpc>
            </a:pPr>
            <a:r>
              <a:rPr lang="en-US" sz="2801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mailer - 학교 이메일 인증</a:t>
            </a:r>
          </a:p>
          <a:p>
            <a:pPr algn="just">
              <a:lnSpc>
                <a:spcPts val="3922"/>
              </a:lnSpc>
            </a:pPr>
            <a:r>
              <a:rPr lang="en-US" sz="2801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web_socket_channel - 웹소켓 통신</a:t>
            </a:r>
          </a:p>
          <a:p>
            <a:pPr algn="just">
              <a:lnSpc>
                <a:spcPts val="3922"/>
              </a:lnSpc>
            </a:pPr>
            <a:r>
              <a:rPr lang="en-US" sz="2801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kakao_flutter_sdk - 카카오 SDK</a:t>
            </a:r>
          </a:p>
          <a:p>
            <a:pPr algn="just">
              <a:lnSpc>
                <a:spcPts val="3922"/>
              </a:lnSpc>
            </a:pPr>
            <a:r>
              <a:rPr lang="en-US" sz="2801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flutter_dotenv - 환경 변수 관리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100000">
              <a:srgbClr val="C7C9FF">
                <a:alpha val="69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155953" y="8131435"/>
            <a:ext cx="1245603" cy="1247727"/>
            <a:chOff x="0" y="0"/>
            <a:chExt cx="1660804" cy="16636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60779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0779">
                  <a:moveTo>
                    <a:pt x="0" y="0"/>
                  </a:moveTo>
                  <a:lnTo>
                    <a:pt x="1660779" y="0"/>
                  </a:lnTo>
                  <a:lnTo>
                    <a:pt x="1660779" y="1663700"/>
                  </a:lnTo>
                  <a:lnTo>
                    <a:pt x="0" y="1663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27" r="-1" b="-12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311158" y="-2289153"/>
            <a:ext cx="13467550" cy="17020604"/>
            <a:chOff x="0" y="0"/>
            <a:chExt cx="17956733" cy="226941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956785" cy="22694137"/>
            </a:xfrm>
            <a:custGeom>
              <a:avLst/>
              <a:gdLst/>
              <a:ahLst/>
              <a:cxnLst/>
              <a:rect r="r" b="b" t="t" l="l"/>
              <a:pathLst>
                <a:path h="22694137" w="17956785">
                  <a:moveTo>
                    <a:pt x="0" y="0"/>
                  </a:moveTo>
                  <a:lnTo>
                    <a:pt x="17956785" y="0"/>
                  </a:lnTo>
                  <a:lnTo>
                    <a:pt x="17956785" y="22694137"/>
                  </a:lnTo>
                  <a:lnTo>
                    <a:pt x="0" y="22694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20999"/>
              </a:blip>
              <a:stretch>
                <a:fillRect l="-58" t="0" r="-57" b="0"/>
              </a:stretch>
            </a:blip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0995365" y="-5584831"/>
            <a:ext cx="12527861" cy="12527861"/>
          </a:xfrm>
          <a:custGeom>
            <a:avLst/>
            <a:gdLst/>
            <a:ahLst/>
            <a:cxnLst/>
            <a:rect r="r" b="b" t="t" l="l"/>
            <a:pathLst>
              <a:path h="12527861" w="12527861">
                <a:moveTo>
                  <a:pt x="0" y="0"/>
                </a:moveTo>
                <a:lnTo>
                  <a:pt x="12527861" y="0"/>
                </a:lnTo>
                <a:lnTo>
                  <a:pt x="12527861" y="12527861"/>
                </a:lnTo>
                <a:lnTo>
                  <a:pt x="0" y="1252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702892" y="-3877304"/>
            <a:ext cx="9112806" cy="9112806"/>
          </a:xfrm>
          <a:custGeom>
            <a:avLst/>
            <a:gdLst/>
            <a:ahLst/>
            <a:cxnLst/>
            <a:rect r="r" b="b" t="t" l="l"/>
            <a:pathLst>
              <a:path h="9112806" w="9112806">
                <a:moveTo>
                  <a:pt x="0" y="0"/>
                </a:moveTo>
                <a:lnTo>
                  <a:pt x="9112806" y="0"/>
                </a:lnTo>
                <a:lnTo>
                  <a:pt x="9112806" y="9112806"/>
                </a:lnTo>
                <a:lnTo>
                  <a:pt x="0" y="91128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685925" y="1809750"/>
            <a:ext cx="10182225" cy="2139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2"/>
              </a:lnSpc>
            </a:pPr>
            <a:r>
              <a:rPr lang="en-US" sz="10294" b="tru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프로젝트 구조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85925" y="3695700"/>
            <a:ext cx="6248400" cy="724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38"/>
              </a:lnSpc>
            </a:pPr>
            <a:r>
              <a:rPr lang="en-US" sz="3384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Project Structure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04975" y="4657725"/>
            <a:ext cx="6958605" cy="5009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root/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lib/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  backend/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    config/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    login/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    mail/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    server/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    socket/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    user_data/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  front/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    models/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    screens/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    main_navigation.dart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main.dart</a:t>
            </a:r>
          </a:p>
          <a:p>
            <a:pPr algn="just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8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440836" y="574681"/>
            <a:ext cx="4385300" cy="879824"/>
          </a:xfrm>
          <a:custGeom>
            <a:avLst/>
            <a:gdLst/>
            <a:ahLst/>
            <a:cxnLst/>
            <a:rect r="r" b="b" t="t" l="l"/>
            <a:pathLst>
              <a:path h="879824" w="4385300">
                <a:moveTo>
                  <a:pt x="0" y="0"/>
                </a:moveTo>
                <a:lnTo>
                  <a:pt x="4385300" y="0"/>
                </a:lnTo>
                <a:lnTo>
                  <a:pt x="4385300" y="879825"/>
                </a:lnTo>
                <a:lnTo>
                  <a:pt x="0" y="87982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52425" y="714375"/>
            <a:ext cx="3324225" cy="5322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37"/>
              </a:lnSpc>
            </a:pPr>
            <a:r>
              <a:rPr lang="en-US" sz="266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번호팅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887450" y="628650"/>
            <a:ext cx="1590675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50" b="tru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구조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030450" y="647700"/>
            <a:ext cx="2228850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50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감사합니다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144000" y="646824"/>
            <a:ext cx="1662551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홈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09451" y="646824"/>
            <a:ext cx="1907086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소개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048750" y="4638675"/>
            <a:ext cx="8710593" cy="3932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519"/>
              </a:lnSpc>
            </a:pPr>
            <a:r>
              <a:rPr lang="en-US" sz="251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폴더 설명</a:t>
            </a:r>
          </a:p>
          <a:p>
            <a:pPr algn="just">
              <a:lnSpc>
                <a:spcPts val="3519"/>
              </a:lnSpc>
            </a:pPr>
          </a:p>
          <a:p>
            <a:pPr algn="just">
              <a:lnSpc>
                <a:spcPts val="3519"/>
              </a:lnSpc>
            </a:pPr>
            <a:r>
              <a:rPr lang="en-US" sz="251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backend/config - .env 파일 처리</a:t>
            </a:r>
          </a:p>
          <a:p>
            <a:pPr algn="just">
              <a:lnSpc>
                <a:spcPts val="3519"/>
              </a:lnSpc>
            </a:pPr>
            <a:r>
              <a:rPr lang="en-US" sz="251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backend/login - 카카오 로그인 처리</a:t>
            </a:r>
          </a:p>
          <a:p>
            <a:pPr algn="just">
              <a:lnSpc>
                <a:spcPts val="3519"/>
              </a:lnSpc>
            </a:pPr>
            <a:r>
              <a:rPr lang="en-US" sz="251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backend/mail - 학교 이메일 인증 처리</a:t>
            </a:r>
          </a:p>
          <a:p>
            <a:pPr algn="just">
              <a:lnSpc>
                <a:spcPts val="3519"/>
              </a:lnSpc>
            </a:pPr>
            <a:r>
              <a:rPr lang="en-US" sz="251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backend/socket - 실시간 채팅 소켓 처리</a:t>
            </a:r>
          </a:p>
          <a:p>
            <a:pPr algn="just">
              <a:lnSpc>
                <a:spcPts val="3519"/>
              </a:lnSpc>
            </a:pPr>
            <a:r>
              <a:rPr lang="en-US" sz="251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backend/user_data - 사용자 데이터 관리</a:t>
            </a:r>
          </a:p>
          <a:p>
            <a:pPr algn="just">
              <a:lnSpc>
                <a:spcPts val="3519"/>
              </a:lnSpc>
            </a:pPr>
            <a:r>
              <a:rPr lang="en-US" sz="251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front/models - 사용자 모델 관리</a:t>
            </a:r>
          </a:p>
          <a:p>
            <a:pPr algn="just">
              <a:lnSpc>
                <a:spcPts val="3519"/>
              </a:lnSpc>
            </a:pPr>
            <a:r>
              <a:rPr lang="en-US" sz="251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front/screens - 앱 UI 화면 구성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100000">
              <a:srgbClr val="C7C9FF">
                <a:alpha val="69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155953" y="8131435"/>
            <a:ext cx="1245603" cy="1247727"/>
            <a:chOff x="0" y="0"/>
            <a:chExt cx="1660804" cy="16636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60779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0779">
                  <a:moveTo>
                    <a:pt x="0" y="0"/>
                  </a:moveTo>
                  <a:lnTo>
                    <a:pt x="1660779" y="0"/>
                  </a:lnTo>
                  <a:lnTo>
                    <a:pt x="1660779" y="1663700"/>
                  </a:lnTo>
                  <a:lnTo>
                    <a:pt x="0" y="1663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27" r="-1" b="-12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311158" y="-2289153"/>
            <a:ext cx="13467550" cy="17020604"/>
            <a:chOff x="0" y="0"/>
            <a:chExt cx="17956733" cy="226941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956785" cy="22694137"/>
            </a:xfrm>
            <a:custGeom>
              <a:avLst/>
              <a:gdLst/>
              <a:ahLst/>
              <a:cxnLst/>
              <a:rect r="r" b="b" t="t" l="l"/>
              <a:pathLst>
                <a:path h="22694137" w="17956785">
                  <a:moveTo>
                    <a:pt x="0" y="0"/>
                  </a:moveTo>
                  <a:lnTo>
                    <a:pt x="17956785" y="0"/>
                  </a:lnTo>
                  <a:lnTo>
                    <a:pt x="17956785" y="22694137"/>
                  </a:lnTo>
                  <a:lnTo>
                    <a:pt x="0" y="22694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20999"/>
              </a:blip>
              <a:stretch>
                <a:fillRect l="-58" t="0" r="-57" b="0"/>
              </a:stretch>
            </a:blip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0995365" y="-5584831"/>
            <a:ext cx="12527861" cy="12527861"/>
          </a:xfrm>
          <a:custGeom>
            <a:avLst/>
            <a:gdLst/>
            <a:ahLst/>
            <a:cxnLst/>
            <a:rect r="r" b="b" t="t" l="l"/>
            <a:pathLst>
              <a:path h="12527861" w="12527861">
                <a:moveTo>
                  <a:pt x="0" y="0"/>
                </a:moveTo>
                <a:lnTo>
                  <a:pt x="12527861" y="0"/>
                </a:lnTo>
                <a:lnTo>
                  <a:pt x="12527861" y="12527861"/>
                </a:lnTo>
                <a:lnTo>
                  <a:pt x="0" y="1252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702892" y="-3877304"/>
            <a:ext cx="9112806" cy="9112806"/>
          </a:xfrm>
          <a:custGeom>
            <a:avLst/>
            <a:gdLst/>
            <a:ahLst/>
            <a:cxnLst/>
            <a:rect r="r" b="b" t="t" l="l"/>
            <a:pathLst>
              <a:path h="9112806" w="9112806">
                <a:moveTo>
                  <a:pt x="0" y="0"/>
                </a:moveTo>
                <a:lnTo>
                  <a:pt x="9112806" y="0"/>
                </a:lnTo>
                <a:lnTo>
                  <a:pt x="9112806" y="9112806"/>
                </a:lnTo>
                <a:lnTo>
                  <a:pt x="0" y="91128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685925" y="1771650"/>
            <a:ext cx="10182225" cy="19691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371"/>
              </a:lnSpc>
              <a:spcBef>
                <a:spcPct val="0"/>
              </a:spcBef>
            </a:pPr>
            <a:r>
              <a:rPr lang="en-US" b="true" sz="10980" strike="noStrike" u="non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협업 프로세스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85925" y="3752850"/>
            <a:ext cx="6248400" cy="6189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732"/>
              </a:lnSpc>
              <a:spcBef>
                <a:spcPct val="0"/>
              </a:spcBef>
            </a:pPr>
            <a:r>
              <a:rPr lang="en-US" sz="338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Collaboration Process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73637" y="4486275"/>
            <a:ext cx="11229255" cy="60789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13"/>
              </a:lnSpc>
            </a:pPr>
            <a:r>
              <a:rPr lang="en-US" sz="2795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🧑‍💻 개발 방식</a:t>
            </a:r>
          </a:p>
          <a:p>
            <a:pPr algn="just">
              <a:lnSpc>
                <a:spcPts val="3773"/>
              </a:lnSpc>
            </a:pPr>
            <a:r>
              <a:rPr lang="en-US" sz="2695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🔄 경량 </a:t>
            </a:r>
            <a:r>
              <a:rPr lang="en-US" sz="2695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Agile 협업 방식</a:t>
            </a:r>
          </a:p>
          <a:p>
            <a:pPr algn="just" marL="581882" indent="-290941" lvl="1">
              <a:lnSpc>
                <a:spcPts val="3773"/>
              </a:lnSpc>
              <a:spcBef>
                <a:spcPct val="0"/>
              </a:spcBef>
              <a:buFont typeface="Arial"/>
              <a:buChar char="•"/>
            </a:pP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3인 팀 프로젝트 진행</a:t>
            </a:r>
          </a:p>
          <a:p>
            <a:pPr algn="just" marL="581882" indent="-290941" lvl="1">
              <a:lnSpc>
                <a:spcPts val="3773"/>
              </a:lnSpc>
              <a:spcBef>
                <a:spcPct val="0"/>
              </a:spcBef>
              <a:buFont typeface="Arial"/>
              <a:buChar char="•"/>
            </a:pP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매주 목요일 정기 회의 진행</a:t>
            </a:r>
          </a:p>
          <a:p>
            <a:pPr algn="just" marL="581882" indent="-290941" lvl="1">
              <a:lnSpc>
                <a:spcPts val="3773"/>
              </a:lnSpc>
              <a:spcBef>
                <a:spcPct val="0"/>
              </a:spcBef>
              <a:buFont typeface="Arial"/>
              <a:buChar char="•"/>
            </a:pP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약 20분 단위 Sprint 회의 운영</a:t>
            </a:r>
          </a:p>
          <a:p>
            <a:pPr algn="just" marL="581882" indent="-290941" lvl="1">
              <a:lnSpc>
                <a:spcPts val="3773"/>
              </a:lnSpc>
              <a:spcBef>
                <a:spcPct val="0"/>
              </a:spcBef>
              <a:buFont typeface="Arial"/>
              <a:buChar char="•"/>
            </a:pP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기능 개발 현황 및 이슈 공유</a:t>
            </a:r>
          </a:p>
          <a:p>
            <a:pPr algn="just">
              <a:lnSpc>
                <a:spcPts val="3774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3774"/>
              </a:lnSpc>
              <a:spcBef>
                <a:spcPct val="0"/>
              </a:spcBef>
            </a:pP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⚠ 문제 해결 과정</a:t>
            </a:r>
          </a:p>
          <a:p>
            <a:pPr algn="just" marL="581882" indent="-290941" lvl="1">
              <a:lnSpc>
                <a:spcPts val="3773"/>
              </a:lnSpc>
              <a:spcBef>
                <a:spcPct val="0"/>
              </a:spcBef>
              <a:buFont typeface="Arial"/>
              <a:buChar char="•"/>
            </a:pP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이슈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발생 시 실시간 공유 (KakaoTalk)</a:t>
            </a:r>
          </a:p>
          <a:p>
            <a:pPr algn="just" marL="581882" indent="-290941" lvl="1">
              <a:lnSpc>
                <a:spcPts val="3774"/>
              </a:lnSpc>
              <a:spcBef>
                <a:spcPct val="0"/>
              </a:spcBef>
              <a:buFont typeface="Arial"/>
              <a:buChar char="•"/>
            </a:pP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주간 회의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를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통한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해결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방안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논의</a:t>
            </a:r>
          </a:p>
          <a:p>
            <a:pPr algn="just" marL="581882" indent="-290941" lvl="1">
              <a:lnSpc>
                <a:spcPts val="3773"/>
              </a:lnSpc>
              <a:spcBef>
                <a:spcPct val="0"/>
              </a:spcBef>
              <a:buFont typeface="Arial"/>
              <a:buChar char="•"/>
            </a:pP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담당자 지정 후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다음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Sprint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95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반영</a:t>
            </a:r>
          </a:p>
          <a:p>
            <a:pPr algn="just">
              <a:lnSpc>
                <a:spcPts val="3214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3214"/>
              </a:lnSpc>
              <a:spcBef>
                <a:spcPct val="0"/>
              </a:spcBef>
            </a:pP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440836" y="574681"/>
            <a:ext cx="4385300" cy="879824"/>
          </a:xfrm>
          <a:custGeom>
            <a:avLst/>
            <a:gdLst/>
            <a:ahLst/>
            <a:cxnLst/>
            <a:rect r="r" b="b" t="t" l="l"/>
            <a:pathLst>
              <a:path h="879824" w="4385300">
                <a:moveTo>
                  <a:pt x="0" y="0"/>
                </a:moveTo>
                <a:lnTo>
                  <a:pt x="4385300" y="0"/>
                </a:lnTo>
                <a:lnTo>
                  <a:pt x="4385300" y="879825"/>
                </a:lnTo>
                <a:lnTo>
                  <a:pt x="0" y="87982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52425" y="714375"/>
            <a:ext cx="3324225" cy="5322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37"/>
              </a:lnSpc>
            </a:pPr>
            <a:r>
              <a:rPr lang="en-US" sz="266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번호팅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887450" y="628650"/>
            <a:ext cx="1590675" cy="350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29"/>
              </a:lnSpc>
              <a:spcBef>
                <a:spcPct val="0"/>
              </a:spcBef>
            </a:pPr>
            <a:r>
              <a:rPr lang="en-US" b="true" sz="1950" strike="noStrike" u="non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협업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030450" y="647700"/>
            <a:ext cx="2228850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50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감사합니다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144000" y="646824"/>
            <a:ext cx="1662551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홈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09451" y="646824"/>
            <a:ext cx="1907086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소개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156392" y="4519933"/>
            <a:ext cx="8405737" cy="4769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📋</a:t>
            </a: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진행 상황 공유</a:t>
            </a:r>
          </a:p>
          <a:p>
            <a:pPr algn="just" marL="582930" indent="-291465" lvl="1">
              <a:lnSpc>
                <a:spcPts val="378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카카오톡,갓허브 기</a:t>
            </a: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반 작업 현황 관리</a:t>
            </a:r>
          </a:p>
          <a:p>
            <a:pPr algn="just" marL="582930" indent="-291465" lvl="1">
              <a:lnSpc>
                <a:spcPts val="3779"/>
              </a:lnSpc>
              <a:spcBef>
                <a:spcPct val="0"/>
              </a:spcBef>
              <a:buFont typeface="Arial"/>
              <a:buChar char="•"/>
            </a:pP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주간 진행 보고 및 피드백 </a:t>
            </a: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진행</a:t>
            </a:r>
          </a:p>
          <a:p>
            <a:pPr algn="just" marL="582930" indent="-291465" lvl="1">
              <a:lnSpc>
                <a:spcPts val="3779"/>
              </a:lnSpc>
              <a:spcBef>
                <a:spcPct val="0"/>
              </a:spcBef>
              <a:buFont typeface="Arial"/>
              <a:buChar char="•"/>
            </a:pP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기능별 완료 기준 명확화</a:t>
            </a:r>
          </a:p>
          <a:p>
            <a:pPr algn="just">
              <a:lnSpc>
                <a:spcPts val="3780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3780"/>
              </a:lnSpc>
              <a:spcBef>
                <a:spcPct val="0"/>
              </a:spcBef>
            </a:pP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📅 개발 </a:t>
            </a: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타임라인</a:t>
            </a:r>
          </a:p>
          <a:p>
            <a:pPr algn="just" marL="582930" indent="-291465" lvl="1">
              <a:lnSpc>
                <a:spcPts val="378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4월</a:t>
            </a: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—</a:t>
            </a: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기획 및 역할 분담</a:t>
            </a:r>
          </a:p>
          <a:p>
            <a:pPr algn="just" marL="582930" indent="-291465" lvl="1">
              <a:lnSpc>
                <a:spcPts val="378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5월</a:t>
            </a: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—</a:t>
            </a: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기능 개발 및 통합</a:t>
            </a:r>
          </a:p>
          <a:p>
            <a:pPr algn="just" marL="582930" indent="-291465" lvl="1">
              <a:lnSpc>
                <a:spcPts val="3779"/>
              </a:lnSpc>
              <a:spcBef>
                <a:spcPct val="0"/>
              </a:spcBef>
              <a:buFont typeface="Arial"/>
              <a:buChar char="•"/>
            </a:pP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6월</a:t>
            </a: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—</a:t>
            </a: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테스트 및 발표</a:t>
            </a:r>
            <a:r>
              <a:rPr lang="en-US" sz="2700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 준비</a:t>
            </a:r>
          </a:p>
          <a:p>
            <a:pPr algn="just" marL="0" indent="0" lvl="0">
              <a:lnSpc>
                <a:spcPts val="378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100000">
              <a:srgbClr val="C7C9FF">
                <a:alpha val="69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763125" y="10001250"/>
            <a:ext cx="1428750" cy="221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9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테스트/마무리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334375" y="10001250"/>
            <a:ext cx="762000" cy="221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9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개발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905625" y="10001250"/>
            <a:ext cx="762000" cy="221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9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기획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55953" y="8131435"/>
            <a:ext cx="1245603" cy="1247727"/>
            <a:chOff x="0" y="0"/>
            <a:chExt cx="1660804" cy="16636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60779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0779">
                  <a:moveTo>
                    <a:pt x="0" y="0"/>
                  </a:moveTo>
                  <a:lnTo>
                    <a:pt x="1660779" y="0"/>
                  </a:lnTo>
                  <a:lnTo>
                    <a:pt x="1660779" y="1663700"/>
                  </a:lnTo>
                  <a:lnTo>
                    <a:pt x="0" y="1663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27" r="-1" b="-12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-4311158" y="-2289153"/>
            <a:ext cx="13467550" cy="17020604"/>
            <a:chOff x="0" y="0"/>
            <a:chExt cx="17956733" cy="2269413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7956785" cy="22694137"/>
            </a:xfrm>
            <a:custGeom>
              <a:avLst/>
              <a:gdLst/>
              <a:ahLst/>
              <a:cxnLst/>
              <a:rect r="r" b="b" t="t" l="l"/>
              <a:pathLst>
                <a:path h="22694137" w="17956785">
                  <a:moveTo>
                    <a:pt x="0" y="0"/>
                  </a:moveTo>
                  <a:lnTo>
                    <a:pt x="17956785" y="0"/>
                  </a:lnTo>
                  <a:lnTo>
                    <a:pt x="17956785" y="22694137"/>
                  </a:lnTo>
                  <a:lnTo>
                    <a:pt x="0" y="22694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20999"/>
              </a:blip>
              <a:stretch>
                <a:fillRect l="-58" t="0" r="-57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10995365" y="-5584831"/>
            <a:ext cx="12527861" cy="12527861"/>
          </a:xfrm>
          <a:custGeom>
            <a:avLst/>
            <a:gdLst/>
            <a:ahLst/>
            <a:cxnLst/>
            <a:rect r="r" b="b" t="t" l="l"/>
            <a:pathLst>
              <a:path h="12527861" w="12527861">
                <a:moveTo>
                  <a:pt x="0" y="0"/>
                </a:moveTo>
                <a:lnTo>
                  <a:pt x="12527861" y="0"/>
                </a:lnTo>
                <a:lnTo>
                  <a:pt x="12527861" y="12527861"/>
                </a:lnTo>
                <a:lnTo>
                  <a:pt x="0" y="1252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702892" y="-3877304"/>
            <a:ext cx="9112806" cy="9112806"/>
          </a:xfrm>
          <a:custGeom>
            <a:avLst/>
            <a:gdLst/>
            <a:ahLst/>
            <a:cxnLst/>
            <a:rect r="r" b="b" t="t" l="l"/>
            <a:pathLst>
              <a:path h="9112806" w="9112806">
                <a:moveTo>
                  <a:pt x="0" y="0"/>
                </a:moveTo>
                <a:lnTo>
                  <a:pt x="9112806" y="0"/>
                </a:lnTo>
                <a:lnTo>
                  <a:pt x="9112806" y="9112806"/>
                </a:lnTo>
                <a:lnTo>
                  <a:pt x="0" y="91128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685925" y="1819275"/>
            <a:ext cx="8291035" cy="186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12"/>
              </a:lnSpc>
            </a:pPr>
            <a:r>
              <a:rPr lang="en-US" sz="8938" b="tru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개발 일정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751814" y="3271776"/>
            <a:ext cx="6248400" cy="724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38"/>
              </a:lnSpc>
            </a:pPr>
            <a:r>
              <a:rPr lang="en-US" sz="3384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Development Timeline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-440836" y="574681"/>
            <a:ext cx="4385300" cy="879824"/>
          </a:xfrm>
          <a:custGeom>
            <a:avLst/>
            <a:gdLst/>
            <a:ahLst/>
            <a:cxnLst/>
            <a:rect r="r" b="b" t="t" l="l"/>
            <a:pathLst>
              <a:path h="879824" w="4385300">
                <a:moveTo>
                  <a:pt x="0" y="0"/>
                </a:moveTo>
                <a:lnTo>
                  <a:pt x="4385300" y="0"/>
                </a:lnTo>
                <a:lnTo>
                  <a:pt x="4385300" y="879825"/>
                </a:lnTo>
                <a:lnTo>
                  <a:pt x="0" y="87982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352425" y="714375"/>
            <a:ext cx="3324225" cy="5322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37"/>
              </a:lnSpc>
            </a:pPr>
            <a:r>
              <a:rPr lang="en-US" sz="266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번호팅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887450" y="628650"/>
            <a:ext cx="1590675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50" b="tru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일정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030450" y="647700"/>
            <a:ext cx="2228850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50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감사합니다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144000" y="646824"/>
            <a:ext cx="1662551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홈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609451" y="646824"/>
            <a:ext cx="1907086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소개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762500" y="3971925"/>
            <a:ext cx="37338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4월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496300" y="3971925"/>
            <a:ext cx="37338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5월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230100" y="3971925"/>
            <a:ext cx="37338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6월</a:t>
            </a:r>
          </a:p>
        </p:txBody>
      </p:sp>
      <p:sp>
        <p:nvSpPr>
          <p:cNvPr name="AutoShape 22" id="22"/>
          <p:cNvSpPr/>
          <p:nvPr/>
        </p:nvSpPr>
        <p:spPr>
          <a:xfrm flipV="true">
            <a:off x="4762500" y="4238625"/>
            <a:ext cx="11201400" cy="0"/>
          </a:xfrm>
          <a:prstGeom prst="line">
            <a:avLst/>
          </a:prstGeom>
          <a:ln cap="rnd" w="9525">
            <a:solidFill>
              <a:srgbClr val="081269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4762500" y="4238625"/>
            <a:ext cx="0" cy="5743575"/>
          </a:xfrm>
          <a:prstGeom prst="line">
            <a:avLst/>
          </a:prstGeom>
          <a:ln cap="rnd" w="9525">
            <a:solidFill>
              <a:srgbClr val="081269">
                <a:alpha val="1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>
            <a:off x="8496300" y="4238625"/>
            <a:ext cx="0" cy="5743575"/>
          </a:xfrm>
          <a:prstGeom prst="line">
            <a:avLst/>
          </a:prstGeom>
          <a:ln cap="rnd" w="9525">
            <a:solidFill>
              <a:srgbClr val="081269">
                <a:alpha val="1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>
            <a:off x="12230100" y="4238625"/>
            <a:ext cx="0" cy="5743575"/>
          </a:xfrm>
          <a:prstGeom prst="line">
            <a:avLst/>
          </a:prstGeom>
          <a:ln cap="rnd" w="9525">
            <a:solidFill>
              <a:srgbClr val="081269">
                <a:alpha val="1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15963900" y="4238625"/>
            <a:ext cx="0" cy="5743575"/>
          </a:xfrm>
          <a:prstGeom prst="line">
            <a:avLst/>
          </a:prstGeom>
          <a:ln cap="rnd" w="9525">
            <a:solidFill>
              <a:srgbClr val="081269">
                <a:alpha val="1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7" id="27"/>
          <p:cNvSpPr txBox="true"/>
          <p:nvPr/>
        </p:nvSpPr>
        <p:spPr>
          <a:xfrm rot="0">
            <a:off x="1714500" y="4333875"/>
            <a:ext cx="2667000" cy="3723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58"/>
              </a:lnSpc>
              <a:spcBef>
                <a:spcPct val="0"/>
              </a:spcBef>
            </a:pPr>
            <a:r>
              <a:rPr lang="en-US" sz="2658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프로젝트 주제 선정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4762500" y="4362450"/>
            <a:ext cx="933450" cy="285750"/>
            <a:chOff x="0" y="0"/>
            <a:chExt cx="1244600" cy="381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244600" cy="381000"/>
            </a:xfrm>
            <a:custGeom>
              <a:avLst/>
              <a:gdLst/>
              <a:ahLst/>
              <a:cxnLst/>
              <a:rect r="r" b="b" t="t" l="l"/>
              <a:pathLst>
                <a:path h="381000" w="1244600">
                  <a:moveTo>
                    <a:pt x="43180" y="0"/>
                  </a:moveTo>
                  <a:lnTo>
                    <a:pt x="1201420" y="0"/>
                  </a:lnTo>
                  <a:cubicBezTo>
                    <a:pt x="1212872" y="0"/>
                    <a:pt x="1223855" y="4014"/>
                    <a:pt x="1231953" y="11159"/>
                  </a:cubicBezTo>
                  <a:cubicBezTo>
                    <a:pt x="1240051" y="18304"/>
                    <a:pt x="1244600" y="27995"/>
                    <a:pt x="1244600" y="38100"/>
                  </a:cubicBezTo>
                  <a:lnTo>
                    <a:pt x="1244600" y="342900"/>
                  </a:lnTo>
                  <a:cubicBezTo>
                    <a:pt x="1244600" y="353005"/>
                    <a:pt x="1240051" y="362696"/>
                    <a:pt x="1231953" y="369841"/>
                  </a:cubicBezTo>
                  <a:cubicBezTo>
                    <a:pt x="1223855" y="376986"/>
                    <a:pt x="1212872" y="381000"/>
                    <a:pt x="1201420" y="381000"/>
                  </a:cubicBezTo>
                  <a:lnTo>
                    <a:pt x="43180" y="381000"/>
                  </a:lnTo>
                  <a:cubicBezTo>
                    <a:pt x="19332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9332" y="0"/>
                    <a:pt x="43180" y="0"/>
                  </a:cubicBezTo>
                  <a:close/>
                </a:path>
              </a:pathLst>
            </a:custGeom>
            <a:solidFill>
              <a:srgbClr val="4A5ACF">
                <a:alpha val="84706"/>
              </a:srgbClr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714500" y="4752975"/>
            <a:ext cx="2667000" cy="407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2"/>
              </a:lnSpc>
              <a:spcBef>
                <a:spcPct val="0"/>
              </a:spcBef>
            </a:pPr>
            <a:r>
              <a:rPr lang="en-US" sz="2922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주요 기능 정의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5695950" y="4800600"/>
            <a:ext cx="933450" cy="285750"/>
            <a:chOff x="0" y="0"/>
            <a:chExt cx="1244600" cy="3810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244600" cy="381000"/>
            </a:xfrm>
            <a:custGeom>
              <a:avLst/>
              <a:gdLst/>
              <a:ahLst/>
              <a:cxnLst/>
              <a:rect r="r" b="b" t="t" l="l"/>
              <a:pathLst>
                <a:path h="381000" w="1244600">
                  <a:moveTo>
                    <a:pt x="43180" y="0"/>
                  </a:moveTo>
                  <a:lnTo>
                    <a:pt x="1201420" y="0"/>
                  </a:lnTo>
                  <a:cubicBezTo>
                    <a:pt x="1212872" y="0"/>
                    <a:pt x="1223855" y="4014"/>
                    <a:pt x="1231953" y="11159"/>
                  </a:cubicBezTo>
                  <a:cubicBezTo>
                    <a:pt x="1240051" y="18304"/>
                    <a:pt x="1244600" y="27995"/>
                    <a:pt x="1244600" y="38100"/>
                  </a:cubicBezTo>
                  <a:lnTo>
                    <a:pt x="1244600" y="342900"/>
                  </a:lnTo>
                  <a:cubicBezTo>
                    <a:pt x="1244600" y="353005"/>
                    <a:pt x="1240051" y="362696"/>
                    <a:pt x="1231953" y="369841"/>
                  </a:cubicBezTo>
                  <a:cubicBezTo>
                    <a:pt x="1223855" y="376986"/>
                    <a:pt x="1212872" y="381000"/>
                    <a:pt x="1201420" y="381000"/>
                  </a:cubicBezTo>
                  <a:lnTo>
                    <a:pt x="43180" y="381000"/>
                  </a:lnTo>
                  <a:cubicBezTo>
                    <a:pt x="19332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9332" y="0"/>
                    <a:pt x="43180" y="0"/>
                  </a:cubicBezTo>
                  <a:close/>
                </a:path>
              </a:pathLst>
            </a:custGeom>
            <a:solidFill>
              <a:srgbClr val="4A5ACF">
                <a:alpha val="84706"/>
              </a:srgbClr>
            </a:solid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1714500" y="5191125"/>
            <a:ext cx="2667000" cy="407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2"/>
              </a:lnSpc>
              <a:spcBef>
                <a:spcPct val="0"/>
              </a:spcBef>
            </a:pPr>
            <a:r>
              <a:rPr lang="en-US" sz="2922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UI/UX 설계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5695950" y="5238750"/>
            <a:ext cx="1866900" cy="285750"/>
            <a:chOff x="0" y="0"/>
            <a:chExt cx="2489200" cy="381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489200" cy="381000"/>
            </a:xfrm>
            <a:custGeom>
              <a:avLst/>
              <a:gdLst/>
              <a:ahLst/>
              <a:cxnLst/>
              <a:rect r="r" b="b" t="t" l="l"/>
              <a:pathLst>
                <a:path h="381000" w="2489200">
                  <a:moveTo>
                    <a:pt x="43180" y="0"/>
                  </a:moveTo>
                  <a:lnTo>
                    <a:pt x="2446020" y="0"/>
                  </a:lnTo>
                  <a:cubicBezTo>
                    <a:pt x="2469868" y="0"/>
                    <a:pt x="2489200" y="17058"/>
                    <a:pt x="2489200" y="38100"/>
                  </a:cubicBezTo>
                  <a:lnTo>
                    <a:pt x="2489200" y="342900"/>
                  </a:lnTo>
                  <a:cubicBezTo>
                    <a:pt x="2489200" y="363942"/>
                    <a:pt x="2469868" y="381000"/>
                    <a:pt x="2446020" y="381000"/>
                  </a:cubicBezTo>
                  <a:lnTo>
                    <a:pt x="43180" y="381000"/>
                  </a:lnTo>
                  <a:cubicBezTo>
                    <a:pt x="19332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9332" y="0"/>
                    <a:pt x="43180" y="0"/>
                  </a:cubicBezTo>
                  <a:close/>
                </a:path>
              </a:pathLst>
            </a:custGeom>
            <a:solidFill>
              <a:srgbClr val="4A5ACF">
                <a:alpha val="84706"/>
              </a:srgbClr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714500" y="5629275"/>
            <a:ext cx="2667000" cy="407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2"/>
              </a:lnSpc>
              <a:spcBef>
                <a:spcPct val="0"/>
              </a:spcBef>
            </a:pPr>
            <a:r>
              <a:rPr lang="en-US" sz="2922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기술 스택 선정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6629400" y="5676900"/>
            <a:ext cx="933450" cy="285750"/>
            <a:chOff x="0" y="0"/>
            <a:chExt cx="1244600" cy="3810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244600" cy="381000"/>
            </a:xfrm>
            <a:custGeom>
              <a:avLst/>
              <a:gdLst/>
              <a:ahLst/>
              <a:cxnLst/>
              <a:rect r="r" b="b" t="t" l="l"/>
              <a:pathLst>
                <a:path h="381000" w="1244600">
                  <a:moveTo>
                    <a:pt x="43180" y="0"/>
                  </a:moveTo>
                  <a:lnTo>
                    <a:pt x="1201420" y="0"/>
                  </a:lnTo>
                  <a:cubicBezTo>
                    <a:pt x="1212872" y="0"/>
                    <a:pt x="1223855" y="4014"/>
                    <a:pt x="1231953" y="11159"/>
                  </a:cubicBezTo>
                  <a:cubicBezTo>
                    <a:pt x="1240051" y="18304"/>
                    <a:pt x="1244600" y="27995"/>
                    <a:pt x="1244600" y="38100"/>
                  </a:cubicBezTo>
                  <a:lnTo>
                    <a:pt x="1244600" y="342900"/>
                  </a:lnTo>
                  <a:cubicBezTo>
                    <a:pt x="1244600" y="353005"/>
                    <a:pt x="1240051" y="362696"/>
                    <a:pt x="1231953" y="369841"/>
                  </a:cubicBezTo>
                  <a:cubicBezTo>
                    <a:pt x="1223855" y="376986"/>
                    <a:pt x="1212872" y="381000"/>
                    <a:pt x="1201420" y="381000"/>
                  </a:cubicBezTo>
                  <a:lnTo>
                    <a:pt x="43180" y="381000"/>
                  </a:lnTo>
                  <a:cubicBezTo>
                    <a:pt x="19332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9332" y="0"/>
                    <a:pt x="43180" y="0"/>
                  </a:cubicBezTo>
                  <a:close/>
                </a:path>
              </a:pathLst>
            </a:custGeom>
            <a:solidFill>
              <a:srgbClr val="4A5ACF">
                <a:alpha val="84706"/>
              </a:srgbClr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1714500" y="6067425"/>
            <a:ext cx="2667000" cy="407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2"/>
              </a:lnSpc>
              <a:spcBef>
                <a:spcPct val="0"/>
              </a:spcBef>
            </a:pPr>
            <a:r>
              <a:rPr lang="en-US" sz="2922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역할 분담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7562850" y="6115050"/>
            <a:ext cx="933450" cy="285750"/>
            <a:chOff x="0" y="0"/>
            <a:chExt cx="1244600" cy="3810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244600" cy="381000"/>
            </a:xfrm>
            <a:custGeom>
              <a:avLst/>
              <a:gdLst/>
              <a:ahLst/>
              <a:cxnLst/>
              <a:rect r="r" b="b" t="t" l="l"/>
              <a:pathLst>
                <a:path h="381000" w="1244600">
                  <a:moveTo>
                    <a:pt x="43180" y="0"/>
                  </a:moveTo>
                  <a:lnTo>
                    <a:pt x="1201420" y="0"/>
                  </a:lnTo>
                  <a:cubicBezTo>
                    <a:pt x="1212872" y="0"/>
                    <a:pt x="1223855" y="4014"/>
                    <a:pt x="1231953" y="11159"/>
                  </a:cubicBezTo>
                  <a:cubicBezTo>
                    <a:pt x="1240051" y="18304"/>
                    <a:pt x="1244600" y="27995"/>
                    <a:pt x="1244600" y="38100"/>
                  </a:cubicBezTo>
                  <a:lnTo>
                    <a:pt x="1244600" y="342900"/>
                  </a:lnTo>
                  <a:cubicBezTo>
                    <a:pt x="1244600" y="353005"/>
                    <a:pt x="1240051" y="362696"/>
                    <a:pt x="1231953" y="369841"/>
                  </a:cubicBezTo>
                  <a:cubicBezTo>
                    <a:pt x="1223855" y="376986"/>
                    <a:pt x="1212872" y="381000"/>
                    <a:pt x="1201420" y="381000"/>
                  </a:cubicBezTo>
                  <a:lnTo>
                    <a:pt x="43180" y="381000"/>
                  </a:lnTo>
                  <a:cubicBezTo>
                    <a:pt x="19332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9332" y="0"/>
                    <a:pt x="43180" y="0"/>
                  </a:cubicBezTo>
                  <a:close/>
                </a:path>
              </a:pathLst>
            </a:custGeom>
            <a:solidFill>
              <a:srgbClr val="4A5ACF">
                <a:alpha val="84706"/>
              </a:srgbClr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1714500" y="6505575"/>
            <a:ext cx="2667000" cy="407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2"/>
              </a:lnSpc>
              <a:spcBef>
                <a:spcPct val="0"/>
              </a:spcBef>
            </a:pPr>
            <a:r>
              <a:rPr lang="en-US" sz="2922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Flutter UI 개발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8496300" y="6553200"/>
            <a:ext cx="3733800" cy="285750"/>
            <a:chOff x="0" y="0"/>
            <a:chExt cx="4978400" cy="3810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4978400" cy="381000"/>
            </a:xfrm>
            <a:custGeom>
              <a:avLst/>
              <a:gdLst/>
              <a:ahLst/>
              <a:cxnLst/>
              <a:rect r="r" b="b" t="t" l="l"/>
              <a:pathLst>
                <a:path h="381000" w="4978400">
                  <a:moveTo>
                    <a:pt x="43180" y="0"/>
                  </a:moveTo>
                  <a:lnTo>
                    <a:pt x="4935220" y="0"/>
                  </a:lnTo>
                  <a:cubicBezTo>
                    <a:pt x="4959068" y="0"/>
                    <a:pt x="4978400" y="17058"/>
                    <a:pt x="4978400" y="38100"/>
                  </a:cubicBezTo>
                  <a:lnTo>
                    <a:pt x="4978400" y="342900"/>
                  </a:lnTo>
                  <a:cubicBezTo>
                    <a:pt x="4978400" y="363942"/>
                    <a:pt x="4959068" y="381000"/>
                    <a:pt x="4935220" y="381000"/>
                  </a:cubicBezTo>
                  <a:lnTo>
                    <a:pt x="43180" y="381000"/>
                  </a:lnTo>
                  <a:cubicBezTo>
                    <a:pt x="19332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9332" y="0"/>
                    <a:pt x="43180" y="0"/>
                  </a:cubicBezTo>
                  <a:close/>
                </a:path>
              </a:pathLst>
            </a:custGeom>
            <a:solidFill>
              <a:srgbClr val="F5A623">
                <a:alpha val="84706"/>
              </a:srgbClr>
            </a:solidFill>
          </p:spPr>
        </p:sp>
      </p:grpSp>
      <p:sp>
        <p:nvSpPr>
          <p:cNvPr name="TextBox 45" id="45"/>
          <p:cNvSpPr txBox="true"/>
          <p:nvPr/>
        </p:nvSpPr>
        <p:spPr>
          <a:xfrm rot="0">
            <a:off x="1714500" y="6962775"/>
            <a:ext cx="2667000" cy="3723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58"/>
              </a:lnSpc>
              <a:spcBef>
                <a:spcPct val="0"/>
              </a:spcBef>
            </a:pPr>
            <a:r>
              <a:rPr lang="en-US" sz="2658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카카오 로그인 연동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8496300" y="6991350"/>
            <a:ext cx="1866900" cy="285750"/>
            <a:chOff x="0" y="0"/>
            <a:chExt cx="2489200" cy="3810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489200" cy="381000"/>
            </a:xfrm>
            <a:custGeom>
              <a:avLst/>
              <a:gdLst/>
              <a:ahLst/>
              <a:cxnLst/>
              <a:rect r="r" b="b" t="t" l="l"/>
              <a:pathLst>
                <a:path h="381000" w="2489200">
                  <a:moveTo>
                    <a:pt x="43180" y="0"/>
                  </a:moveTo>
                  <a:lnTo>
                    <a:pt x="2446020" y="0"/>
                  </a:lnTo>
                  <a:cubicBezTo>
                    <a:pt x="2469868" y="0"/>
                    <a:pt x="2489200" y="17058"/>
                    <a:pt x="2489200" y="38100"/>
                  </a:cubicBezTo>
                  <a:lnTo>
                    <a:pt x="2489200" y="342900"/>
                  </a:lnTo>
                  <a:cubicBezTo>
                    <a:pt x="2489200" y="363942"/>
                    <a:pt x="2469868" y="381000"/>
                    <a:pt x="2446020" y="381000"/>
                  </a:cubicBezTo>
                  <a:lnTo>
                    <a:pt x="43180" y="381000"/>
                  </a:lnTo>
                  <a:cubicBezTo>
                    <a:pt x="19332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9332" y="0"/>
                    <a:pt x="43180" y="0"/>
                  </a:cubicBezTo>
                  <a:close/>
                </a:path>
              </a:pathLst>
            </a:custGeom>
            <a:solidFill>
              <a:srgbClr val="F5A623">
                <a:alpha val="84706"/>
              </a:srgbClr>
            </a:solidFill>
          </p:spPr>
        </p:sp>
      </p:grpSp>
      <p:sp>
        <p:nvSpPr>
          <p:cNvPr name="TextBox 48" id="48"/>
          <p:cNvSpPr txBox="true"/>
          <p:nvPr/>
        </p:nvSpPr>
        <p:spPr>
          <a:xfrm rot="0">
            <a:off x="1714500" y="7381875"/>
            <a:ext cx="2667000" cy="407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2"/>
              </a:lnSpc>
              <a:spcBef>
                <a:spcPct val="0"/>
              </a:spcBef>
            </a:pPr>
            <a:r>
              <a:rPr lang="en-US" sz="2922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실시간 채팅 구현</a:t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9429750" y="7429500"/>
            <a:ext cx="2800350" cy="285750"/>
            <a:chOff x="0" y="0"/>
            <a:chExt cx="3733800" cy="3810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733800" cy="381000"/>
            </a:xfrm>
            <a:custGeom>
              <a:avLst/>
              <a:gdLst/>
              <a:ahLst/>
              <a:cxnLst/>
              <a:rect r="r" b="b" t="t" l="l"/>
              <a:pathLst>
                <a:path h="381000" w="3733800">
                  <a:moveTo>
                    <a:pt x="43180" y="0"/>
                  </a:moveTo>
                  <a:lnTo>
                    <a:pt x="3690620" y="0"/>
                  </a:lnTo>
                  <a:cubicBezTo>
                    <a:pt x="3714468" y="0"/>
                    <a:pt x="3733800" y="17058"/>
                    <a:pt x="3733800" y="38100"/>
                  </a:cubicBezTo>
                  <a:lnTo>
                    <a:pt x="3733800" y="342900"/>
                  </a:lnTo>
                  <a:cubicBezTo>
                    <a:pt x="3733800" y="363942"/>
                    <a:pt x="3714468" y="381000"/>
                    <a:pt x="3690620" y="381000"/>
                  </a:cubicBezTo>
                  <a:lnTo>
                    <a:pt x="43180" y="381000"/>
                  </a:lnTo>
                  <a:cubicBezTo>
                    <a:pt x="19332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9332" y="0"/>
                    <a:pt x="43180" y="0"/>
                  </a:cubicBezTo>
                  <a:close/>
                </a:path>
              </a:pathLst>
            </a:custGeom>
            <a:solidFill>
              <a:srgbClr val="F5A623">
                <a:alpha val="84706"/>
              </a:srgbClr>
            </a:solidFill>
          </p:spPr>
        </p:sp>
      </p:grpSp>
      <p:sp>
        <p:nvSpPr>
          <p:cNvPr name="TextBox 51" id="51"/>
          <p:cNvSpPr txBox="true"/>
          <p:nvPr/>
        </p:nvSpPr>
        <p:spPr>
          <a:xfrm rot="0">
            <a:off x="1714500" y="7820025"/>
            <a:ext cx="2667000" cy="407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2"/>
              </a:lnSpc>
              <a:spcBef>
                <a:spcPct val="0"/>
              </a:spcBef>
            </a:pPr>
            <a:r>
              <a:rPr lang="en-US" sz="2922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이메일 인증 구현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10363200" y="7867650"/>
            <a:ext cx="1866900" cy="285750"/>
            <a:chOff x="0" y="0"/>
            <a:chExt cx="2489200" cy="3810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489200" cy="381000"/>
            </a:xfrm>
            <a:custGeom>
              <a:avLst/>
              <a:gdLst/>
              <a:ahLst/>
              <a:cxnLst/>
              <a:rect r="r" b="b" t="t" l="l"/>
              <a:pathLst>
                <a:path h="381000" w="2489200">
                  <a:moveTo>
                    <a:pt x="43180" y="0"/>
                  </a:moveTo>
                  <a:lnTo>
                    <a:pt x="2446020" y="0"/>
                  </a:lnTo>
                  <a:cubicBezTo>
                    <a:pt x="2469868" y="0"/>
                    <a:pt x="2489200" y="17058"/>
                    <a:pt x="2489200" y="38100"/>
                  </a:cubicBezTo>
                  <a:lnTo>
                    <a:pt x="2489200" y="342900"/>
                  </a:lnTo>
                  <a:cubicBezTo>
                    <a:pt x="2489200" y="363942"/>
                    <a:pt x="2469868" y="381000"/>
                    <a:pt x="2446020" y="381000"/>
                  </a:cubicBezTo>
                  <a:lnTo>
                    <a:pt x="43180" y="381000"/>
                  </a:lnTo>
                  <a:cubicBezTo>
                    <a:pt x="19332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9332" y="0"/>
                    <a:pt x="43180" y="0"/>
                  </a:cubicBezTo>
                  <a:close/>
                </a:path>
              </a:pathLst>
            </a:custGeom>
            <a:solidFill>
              <a:srgbClr val="F5A623">
                <a:alpha val="84706"/>
              </a:srgbClr>
            </a:solidFill>
          </p:spPr>
        </p:sp>
      </p:grpSp>
      <p:sp>
        <p:nvSpPr>
          <p:cNvPr name="TextBox 54" id="54"/>
          <p:cNvSpPr txBox="true"/>
          <p:nvPr/>
        </p:nvSpPr>
        <p:spPr>
          <a:xfrm rot="0">
            <a:off x="1714500" y="8258175"/>
            <a:ext cx="2667000" cy="407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2"/>
              </a:lnSpc>
              <a:spcBef>
                <a:spcPct val="0"/>
              </a:spcBef>
            </a:pPr>
            <a:r>
              <a:rPr lang="en-US" sz="2922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랜덤 매칭 구현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1296650" y="8305800"/>
            <a:ext cx="1866900" cy="285750"/>
            <a:chOff x="0" y="0"/>
            <a:chExt cx="2489200" cy="38100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489200" cy="381000"/>
            </a:xfrm>
            <a:custGeom>
              <a:avLst/>
              <a:gdLst/>
              <a:ahLst/>
              <a:cxnLst/>
              <a:rect r="r" b="b" t="t" l="l"/>
              <a:pathLst>
                <a:path h="381000" w="2489200">
                  <a:moveTo>
                    <a:pt x="43180" y="0"/>
                  </a:moveTo>
                  <a:lnTo>
                    <a:pt x="2446020" y="0"/>
                  </a:lnTo>
                  <a:cubicBezTo>
                    <a:pt x="2469868" y="0"/>
                    <a:pt x="2489200" y="17058"/>
                    <a:pt x="2489200" y="38100"/>
                  </a:cubicBezTo>
                  <a:lnTo>
                    <a:pt x="2489200" y="342900"/>
                  </a:lnTo>
                  <a:cubicBezTo>
                    <a:pt x="2489200" y="363942"/>
                    <a:pt x="2469868" y="381000"/>
                    <a:pt x="2446020" y="381000"/>
                  </a:cubicBezTo>
                  <a:lnTo>
                    <a:pt x="43180" y="381000"/>
                  </a:lnTo>
                  <a:cubicBezTo>
                    <a:pt x="19332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9332" y="0"/>
                    <a:pt x="43180" y="0"/>
                  </a:cubicBezTo>
                  <a:close/>
                </a:path>
              </a:pathLst>
            </a:custGeom>
            <a:solidFill>
              <a:srgbClr val="F5A623">
                <a:alpha val="84706"/>
              </a:srgbClr>
            </a:solidFill>
          </p:spPr>
        </p:sp>
      </p:grpSp>
      <p:sp>
        <p:nvSpPr>
          <p:cNvPr name="TextBox 57" id="57"/>
          <p:cNvSpPr txBox="true"/>
          <p:nvPr/>
        </p:nvSpPr>
        <p:spPr>
          <a:xfrm rot="0">
            <a:off x="1714500" y="8696325"/>
            <a:ext cx="2667000" cy="407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2"/>
              </a:lnSpc>
              <a:spcBef>
                <a:spcPct val="0"/>
              </a:spcBef>
            </a:pPr>
            <a:r>
              <a:rPr lang="en-US" sz="2922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최종 테스트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12230100" y="8743950"/>
            <a:ext cx="1866900" cy="285750"/>
            <a:chOff x="0" y="0"/>
            <a:chExt cx="2489200" cy="3810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489200" cy="381000"/>
            </a:xfrm>
            <a:custGeom>
              <a:avLst/>
              <a:gdLst/>
              <a:ahLst/>
              <a:cxnLst/>
              <a:rect r="r" b="b" t="t" l="l"/>
              <a:pathLst>
                <a:path h="381000" w="2489200">
                  <a:moveTo>
                    <a:pt x="43180" y="0"/>
                  </a:moveTo>
                  <a:lnTo>
                    <a:pt x="2446020" y="0"/>
                  </a:lnTo>
                  <a:cubicBezTo>
                    <a:pt x="2469868" y="0"/>
                    <a:pt x="2489200" y="17058"/>
                    <a:pt x="2489200" y="38100"/>
                  </a:cubicBezTo>
                  <a:lnTo>
                    <a:pt x="2489200" y="342900"/>
                  </a:lnTo>
                  <a:cubicBezTo>
                    <a:pt x="2489200" y="363942"/>
                    <a:pt x="2469868" y="381000"/>
                    <a:pt x="2446020" y="381000"/>
                  </a:cubicBezTo>
                  <a:lnTo>
                    <a:pt x="43180" y="381000"/>
                  </a:lnTo>
                  <a:cubicBezTo>
                    <a:pt x="19332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9332" y="0"/>
                    <a:pt x="43180" y="0"/>
                  </a:cubicBezTo>
                  <a:close/>
                </a:path>
              </a:pathLst>
            </a:custGeom>
            <a:solidFill>
              <a:srgbClr val="E74C3C">
                <a:alpha val="84706"/>
              </a:srgbClr>
            </a:solidFill>
          </p:spPr>
        </p:sp>
      </p:grpSp>
      <p:sp>
        <p:nvSpPr>
          <p:cNvPr name="TextBox 60" id="60"/>
          <p:cNvSpPr txBox="true"/>
          <p:nvPr/>
        </p:nvSpPr>
        <p:spPr>
          <a:xfrm rot="0">
            <a:off x="1714500" y="9134475"/>
            <a:ext cx="2667000" cy="407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2"/>
              </a:lnSpc>
              <a:spcBef>
                <a:spcPct val="0"/>
              </a:spcBef>
            </a:pPr>
            <a:r>
              <a:rPr lang="en-US" sz="2922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결과 보고서 작성</a:t>
            </a:r>
          </a:p>
        </p:txBody>
      </p:sp>
      <p:grpSp>
        <p:nvGrpSpPr>
          <p:cNvPr name="Group 61" id="61"/>
          <p:cNvGrpSpPr/>
          <p:nvPr/>
        </p:nvGrpSpPr>
        <p:grpSpPr>
          <a:xfrm rot="0">
            <a:off x="13163550" y="9182100"/>
            <a:ext cx="1866900" cy="285750"/>
            <a:chOff x="0" y="0"/>
            <a:chExt cx="2489200" cy="38100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489200" cy="381000"/>
            </a:xfrm>
            <a:custGeom>
              <a:avLst/>
              <a:gdLst/>
              <a:ahLst/>
              <a:cxnLst/>
              <a:rect r="r" b="b" t="t" l="l"/>
              <a:pathLst>
                <a:path h="381000" w="2489200">
                  <a:moveTo>
                    <a:pt x="43180" y="0"/>
                  </a:moveTo>
                  <a:lnTo>
                    <a:pt x="2446020" y="0"/>
                  </a:lnTo>
                  <a:cubicBezTo>
                    <a:pt x="2469868" y="0"/>
                    <a:pt x="2489200" y="17058"/>
                    <a:pt x="2489200" y="38100"/>
                  </a:cubicBezTo>
                  <a:lnTo>
                    <a:pt x="2489200" y="342900"/>
                  </a:lnTo>
                  <a:cubicBezTo>
                    <a:pt x="2489200" y="363942"/>
                    <a:pt x="2469868" y="381000"/>
                    <a:pt x="2446020" y="381000"/>
                  </a:cubicBezTo>
                  <a:lnTo>
                    <a:pt x="43180" y="381000"/>
                  </a:lnTo>
                  <a:cubicBezTo>
                    <a:pt x="19332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9332" y="0"/>
                    <a:pt x="43180" y="0"/>
                  </a:cubicBezTo>
                  <a:close/>
                </a:path>
              </a:pathLst>
            </a:custGeom>
            <a:solidFill>
              <a:srgbClr val="E74C3C">
                <a:alpha val="84706"/>
              </a:srgbClr>
            </a:solidFill>
          </p:spPr>
        </p:sp>
      </p:grpSp>
      <p:sp>
        <p:nvSpPr>
          <p:cNvPr name="TextBox 63" id="63"/>
          <p:cNvSpPr txBox="true"/>
          <p:nvPr/>
        </p:nvSpPr>
        <p:spPr>
          <a:xfrm rot="0">
            <a:off x="1714500" y="9572625"/>
            <a:ext cx="2667000" cy="407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2"/>
              </a:lnSpc>
              <a:spcBef>
                <a:spcPct val="0"/>
              </a:spcBef>
            </a:pPr>
            <a:r>
              <a:rPr lang="en-US" sz="2922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발표 및 제출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15030450" y="9620250"/>
            <a:ext cx="933450" cy="285750"/>
            <a:chOff x="0" y="0"/>
            <a:chExt cx="1244600" cy="3810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244600" cy="381000"/>
            </a:xfrm>
            <a:custGeom>
              <a:avLst/>
              <a:gdLst/>
              <a:ahLst/>
              <a:cxnLst/>
              <a:rect r="r" b="b" t="t" l="l"/>
              <a:pathLst>
                <a:path h="381000" w="1244600">
                  <a:moveTo>
                    <a:pt x="43180" y="0"/>
                  </a:moveTo>
                  <a:lnTo>
                    <a:pt x="1201420" y="0"/>
                  </a:lnTo>
                  <a:cubicBezTo>
                    <a:pt x="1212872" y="0"/>
                    <a:pt x="1223855" y="4014"/>
                    <a:pt x="1231953" y="11159"/>
                  </a:cubicBezTo>
                  <a:cubicBezTo>
                    <a:pt x="1240051" y="18304"/>
                    <a:pt x="1244600" y="27995"/>
                    <a:pt x="1244600" y="38100"/>
                  </a:cubicBezTo>
                  <a:lnTo>
                    <a:pt x="1244600" y="342900"/>
                  </a:lnTo>
                  <a:cubicBezTo>
                    <a:pt x="1244600" y="353005"/>
                    <a:pt x="1240051" y="362696"/>
                    <a:pt x="1231953" y="369841"/>
                  </a:cubicBezTo>
                  <a:cubicBezTo>
                    <a:pt x="1223855" y="376986"/>
                    <a:pt x="1212872" y="381000"/>
                    <a:pt x="1201420" y="381000"/>
                  </a:cubicBezTo>
                  <a:lnTo>
                    <a:pt x="43180" y="381000"/>
                  </a:lnTo>
                  <a:cubicBezTo>
                    <a:pt x="19332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9332" y="0"/>
                    <a:pt x="43180" y="0"/>
                  </a:cubicBezTo>
                  <a:close/>
                </a:path>
              </a:pathLst>
            </a:custGeom>
            <a:solidFill>
              <a:srgbClr val="E74C3C">
                <a:alpha val="84706"/>
              </a:srgbClr>
            </a:solid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9525000" y="9982200"/>
            <a:ext cx="190500" cy="190500"/>
            <a:chOff x="0" y="0"/>
            <a:chExt cx="254000" cy="25400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540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0">
                  <a:moveTo>
                    <a:pt x="25400" y="0"/>
                  </a:moveTo>
                  <a:lnTo>
                    <a:pt x="228600" y="0"/>
                  </a:lnTo>
                  <a:cubicBezTo>
                    <a:pt x="242628" y="0"/>
                    <a:pt x="254000" y="11372"/>
                    <a:pt x="254000" y="25400"/>
                  </a:cubicBezTo>
                  <a:lnTo>
                    <a:pt x="254000" y="228600"/>
                  </a:lnTo>
                  <a:cubicBezTo>
                    <a:pt x="254000" y="242628"/>
                    <a:pt x="242628" y="254000"/>
                    <a:pt x="228600" y="254000"/>
                  </a:cubicBezTo>
                  <a:lnTo>
                    <a:pt x="25400" y="254000"/>
                  </a:lnTo>
                  <a:cubicBezTo>
                    <a:pt x="11372" y="254000"/>
                    <a:pt x="0" y="242628"/>
                    <a:pt x="0" y="2286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E74C3C"/>
            </a:solid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8096250" y="9982200"/>
            <a:ext cx="190500" cy="190500"/>
            <a:chOff x="0" y="0"/>
            <a:chExt cx="254000" cy="2540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540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0">
                  <a:moveTo>
                    <a:pt x="25400" y="0"/>
                  </a:moveTo>
                  <a:lnTo>
                    <a:pt x="228600" y="0"/>
                  </a:lnTo>
                  <a:cubicBezTo>
                    <a:pt x="242628" y="0"/>
                    <a:pt x="254000" y="11372"/>
                    <a:pt x="254000" y="25400"/>
                  </a:cubicBezTo>
                  <a:lnTo>
                    <a:pt x="254000" y="228600"/>
                  </a:lnTo>
                  <a:cubicBezTo>
                    <a:pt x="254000" y="242628"/>
                    <a:pt x="242628" y="254000"/>
                    <a:pt x="228600" y="254000"/>
                  </a:cubicBezTo>
                  <a:lnTo>
                    <a:pt x="25400" y="254000"/>
                  </a:lnTo>
                  <a:cubicBezTo>
                    <a:pt x="11372" y="254000"/>
                    <a:pt x="0" y="242628"/>
                    <a:pt x="0" y="2286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F5A623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6667500" y="9982200"/>
            <a:ext cx="190500" cy="190500"/>
            <a:chOff x="0" y="0"/>
            <a:chExt cx="254000" cy="25400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540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0">
                  <a:moveTo>
                    <a:pt x="25400" y="0"/>
                  </a:moveTo>
                  <a:lnTo>
                    <a:pt x="228600" y="0"/>
                  </a:lnTo>
                  <a:cubicBezTo>
                    <a:pt x="242628" y="0"/>
                    <a:pt x="254000" y="11372"/>
                    <a:pt x="254000" y="25400"/>
                  </a:cubicBezTo>
                  <a:lnTo>
                    <a:pt x="254000" y="228600"/>
                  </a:lnTo>
                  <a:cubicBezTo>
                    <a:pt x="254000" y="242628"/>
                    <a:pt x="242628" y="254000"/>
                    <a:pt x="228600" y="254000"/>
                  </a:cubicBezTo>
                  <a:lnTo>
                    <a:pt x="25400" y="254000"/>
                  </a:lnTo>
                  <a:cubicBezTo>
                    <a:pt x="11372" y="254000"/>
                    <a:pt x="0" y="242628"/>
                    <a:pt x="0" y="2286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4A5ACF"/>
            </a:solidFill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100000">
              <a:srgbClr val="C7C9FF">
                <a:alpha val="69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155953" y="8131435"/>
            <a:ext cx="1245603" cy="1247727"/>
            <a:chOff x="0" y="0"/>
            <a:chExt cx="1660804" cy="16636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60779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0779">
                  <a:moveTo>
                    <a:pt x="0" y="0"/>
                  </a:moveTo>
                  <a:lnTo>
                    <a:pt x="1660779" y="0"/>
                  </a:lnTo>
                  <a:lnTo>
                    <a:pt x="1660779" y="1663700"/>
                  </a:lnTo>
                  <a:lnTo>
                    <a:pt x="0" y="1663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27" r="-1" b="-12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311158" y="-2289153"/>
            <a:ext cx="13467550" cy="17020604"/>
            <a:chOff x="0" y="0"/>
            <a:chExt cx="17956733" cy="226941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956785" cy="22694137"/>
            </a:xfrm>
            <a:custGeom>
              <a:avLst/>
              <a:gdLst/>
              <a:ahLst/>
              <a:cxnLst/>
              <a:rect r="r" b="b" t="t" l="l"/>
              <a:pathLst>
                <a:path h="22694137" w="17956785">
                  <a:moveTo>
                    <a:pt x="0" y="0"/>
                  </a:moveTo>
                  <a:lnTo>
                    <a:pt x="17956785" y="0"/>
                  </a:lnTo>
                  <a:lnTo>
                    <a:pt x="17956785" y="22694137"/>
                  </a:lnTo>
                  <a:lnTo>
                    <a:pt x="0" y="22694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20999"/>
              </a:blip>
              <a:stretch>
                <a:fillRect l="-58" t="0" r="-57" b="0"/>
              </a:stretch>
            </a:blip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0995365" y="-5584831"/>
            <a:ext cx="12527861" cy="12527861"/>
          </a:xfrm>
          <a:custGeom>
            <a:avLst/>
            <a:gdLst/>
            <a:ahLst/>
            <a:cxnLst/>
            <a:rect r="r" b="b" t="t" l="l"/>
            <a:pathLst>
              <a:path h="12527861" w="12527861">
                <a:moveTo>
                  <a:pt x="0" y="0"/>
                </a:moveTo>
                <a:lnTo>
                  <a:pt x="12527861" y="0"/>
                </a:lnTo>
                <a:lnTo>
                  <a:pt x="12527861" y="12527861"/>
                </a:lnTo>
                <a:lnTo>
                  <a:pt x="0" y="1252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702892" y="-3877304"/>
            <a:ext cx="9112806" cy="9112806"/>
          </a:xfrm>
          <a:custGeom>
            <a:avLst/>
            <a:gdLst/>
            <a:ahLst/>
            <a:cxnLst/>
            <a:rect r="r" b="b" t="t" l="l"/>
            <a:pathLst>
              <a:path h="9112806" w="9112806">
                <a:moveTo>
                  <a:pt x="0" y="0"/>
                </a:moveTo>
                <a:lnTo>
                  <a:pt x="9112806" y="0"/>
                </a:lnTo>
                <a:lnTo>
                  <a:pt x="9112806" y="9112806"/>
                </a:lnTo>
                <a:lnTo>
                  <a:pt x="0" y="91128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685925" y="1257300"/>
            <a:ext cx="15240000" cy="2318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38"/>
              </a:lnSpc>
            </a:pPr>
            <a:r>
              <a:rPr lang="en-US" sz="11026" b="tru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보안 및 개인정보 보호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85925" y="3409950"/>
            <a:ext cx="6248400" cy="724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38"/>
              </a:lnSpc>
            </a:pPr>
            <a:r>
              <a:rPr lang="en-US" sz="3384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Security &amp; Privacy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04975" y="4324350"/>
            <a:ext cx="6667500" cy="18404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518"/>
              </a:lnSpc>
            </a:pPr>
            <a:r>
              <a:rPr lang="en-US" sz="2511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익명 채팅</a:t>
            </a:r>
          </a:p>
          <a:p>
            <a:pPr algn="just">
              <a:lnSpc>
                <a:spcPts val="3518"/>
              </a:lnSpc>
            </a:pPr>
          </a:p>
          <a:p>
            <a:pPr algn="just">
              <a:lnSpc>
                <a:spcPts val="3518"/>
              </a:lnSpc>
            </a:pPr>
            <a:r>
              <a:rPr lang="en-US" sz="2511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- 전화번호 비공개 기반 익명 채팅 제공</a:t>
            </a:r>
          </a:p>
          <a:p>
            <a:pPr algn="just">
              <a:lnSpc>
                <a:spcPts val="3518"/>
              </a:lnSpc>
            </a:pPr>
            <a:r>
              <a:rPr lang="en-US" sz="2511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- 최소한의 사용자 정보만 수집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440836" y="574681"/>
            <a:ext cx="4385300" cy="879824"/>
          </a:xfrm>
          <a:custGeom>
            <a:avLst/>
            <a:gdLst/>
            <a:ahLst/>
            <a:cxnLst/>
            <a:rect r="r" b="b" t="t" l="l"/>
            <a:pathLst>
              <a:path h="879824" w="4385300">
                <a:moveTo>
                  <a:pt x="0" y="0"/>
                </a:moveTo>
                <a:lnTo>
                  <a:pt x="4385300" y="0"/>
                </a:lnTo>
                <a:lnTo>
                  <a:pt x="4385300" y="879825"/>
                </a:lnTo>
                <a:lnTo>
                  <a:pt x="0" y="87982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52425" y="714375"/>
            <a:ext cx="3324225" cy="5322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37"/>
              </a:lnSpc>
            </a:pPr>
            <a:r>
              <a:rPr lang="en-US" sz="266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번호팅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887450" y="628650"/>
            <a:ext cx="1590675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50" b="tru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보안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030450" y="647700"/>
            <a:ext cx="2228850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50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팀 소개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144000" y="646824"/>
            <a:ext cx="1662551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홈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09451" y="646824"/>
            <a:ext cx="1907086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소개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048750" y="4324350"/>
            <a:ext cx="6667500" cy="18404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518"/>
              </a:lnSpc>
            </a:pPr>
            <a:r>
              <a:rPr lang="en-US" sz="2511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사용자 검증 및 보안</a:t>
            </a:r>
          </a:p>
          <a:p>
            <a:pPr algn="just">
              <a:lnSpc>
                <a:spcPts val="3518"/>
              </a:lnSpc>
            </a:pPr>
          </a:p>
          <a:p>
            <a:pPr algn="just">
              <a:lnSpc>
                <a:spcPts val="3518"/>
              </a:lnSpc>
            </a:pPr>
            <a:r>
              <a:rPr lang="en-US" sz="2511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- 학교 이메일 인증 기반 사용자 검증</a:t>
            </a:r>
          </a:p>
          <a:p>
            <a:pPr algn="just">
              <a:lnSpc>
                <a:spcPts val="3518"/>
              </a:lnSpc>
            </a:pPr>
            <a:r>
              <a:rPr lang="en-US" sz="2511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- .env 파일 기반 민감 정보 보호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100000">
              <a:srgbClr val="C7C9FF">
                <a:alpha val="69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155953" y="8131435"/>
            <a:ext cx="1245603" cy="1247727"/>
            <a:chOff x="0" y="0"/>
            <a:chExt cx="1660804" cy="16636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60779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0779">
                  <a:moveTo>
                    <a:pt x="0" y="0"/>
                  </a:moveTo>
                  <a:lnTo>
                    <a:pt x="1660779" y="0"/>
                  </a:lnTo>
                  <a:lnTo>
                    <a:pt x="1660779" y="1663700"/>
                  </a:lnTo>
                  <a:lnTo>
                    <a:pt x="0" y="1663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27" r="-1" b="-12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311158" y="-2289153"/>
            <a:ext cx="13467550" cy="17020604"/>
            <a:chOff x="0" y="0"/>
            <a:chExt cx="17956733" cy="226941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956785" cy="22694137"/>
            </a:xfrm>
            <a:custGeom>
              <a:avLst/>
              <a:gdLst/>
              <a:ahLst/>
              <a:cxnLst/>
              <a:rect r="r" b="b" t="t" l="l"/>
              <a:pathLst>
                <a:path h="22694137" w="17956785">
                  <a:moveTo>
                    <a:pt x="0" y="0"/>
                  </a:moveTo>
                  <a:lnTo>
                    <a:pt x="17956785" y="0"/>
                  </a:lnTo>
                  <a:lnTo>
                    <a:pt x="17956785" y="22694137"/>
                  </a:lnTo>
                  <a:lnTo>
                    <a:pt x="0" y="22694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20999"/>
              </a:blip>
              <a:stretch>
                <a:fillRect l="-58" t="0" r="-57" b="0"/>
              </a:stretch>
            </a:blip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0995365" y="-5584831"/>
            <a:ext cx="12527861" cy="12527861"/>
          </a:xfrm>
          <a:custGeom>
            <a:avLst/>
            <a:gdLst/>
            <a:ahLst/>
            <a:cxnLst/>
            <a:rect r="r" b="b" t="t" l="l"/>
            <a:pathLst>
              <a:path h="12527861" w="12527861">
                <a:moveTo>
                  <a:pt x="0" y="0"/>
                </a:moveTo>
                <a:lnTo>
                  <a:pt x="12527861" y="0"/>
                </a:lnTo>
                <a:lnTo>
                  <a:pt x="12527861" y="12527861"/>
                </a:lnTo>
                <a:lnTo>
                  <a:pt x="0" y="1252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702892" y="-3877304"/>
            <a:ext cx="9112806" cy="9112806"/>
          </a:xfrm>
          <a:custGeom>
            <a:avLst/>
            <a:gdLst/>
            <a:ahLst/>
            <a:cxnLst/>
            <a:rect r="r" b="b" t="t" l="l"/>
            <a:pathLst>
              <a:path h="9112806" w="9112806">
                <a:moveTo>
                  <a:pt x="0" y="0"/>
                </a:moveTo>
                <a:lnTo>
                  <a:pt x="9112806" y="0"/>
                </a:lnTo>
                <a:lnTo>
                  <a:pt x="9112806" y="9112806"/>
                </a:lnTo>
                <a:lnTo>
                  <a:pt x="0" y="91128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440836" y="574681"/>
            <a:ext cx="4385300" cy="879824"/>
          </a:xfrm>
          <a:custGeom>
            <a:avLst/>
            <a:gdLst/>
            <a:ahLst/>
            <a:cxnLst/>
            <a:rect r="r" b="b" t="t" l="l"/>
            <a:pathLst>
              <a:path h="879824" w="4385300">
                <a:moveTo>
                  <a:pt x="0" y="0"/>
                </a:moveTo>
                <a:lnTo>
                  <a:pt x="4385300" y="0"/>
                </a:lnTo>
                <a:lnTo>
                  <a:pt x="4385300" y="879825"/>
                </a:lnTo>
                <a:lnTo>
                  <a:pt x="0" y="87982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714500" y="4762500"/>
            <a:ext cx="1905000" cy="3810000"/>
            <a:chOff x="0" y="0"/>
            <a:chExt cx="2540000" cy="5080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540000" cy="5080000"/>
            </a:xfrm>
            <a:custGeom>
              <a:avLst/>
              <a:gdLst/>
              <a:ahLst/>
              <a:cxnLst/>
              <a:rect r="r" b="b" t="t" l="l"/>
              <a:pathLst>
                <a:path h="5080000" w="2540000">
                  <a:moveTo>
                    <a:pt x="254000" y="0"/>
                  </a:moveTo>
                  <a:lnTo>
                    <a:pt x="2286000" y="0"/>
                  </a:lnTo>
                  <a:cubicBezTo>
                    <a:pt x="2426280" y="0"/>
                    <a:pt x="2540000" y="113720"/>
                    <a:pt x="2540000" y="254000"/>
                  </a:cubicBezTo>
                  <a:lnTo>
                    <a:pt x="2540000" y="4826000"/>
                  </a:lnTo>
                  <a:cubicBezTo>
                    <a:pt x="2540000" y="4966280"/>
                    <a:pt x="2426280" y="5080000"/>
                    <a:pt x="2286000" y="5080000"/>
                  </a:cubicBezTo>
                  <a:lnTo>
                    <a:pt x="254000" y="5080000"/>
                  </a:lnTo>
                  <a:cubicBezTo>
                    <a:pt x="113720" y="5080000"/>
                    <a:pt x="0" y="4966280"/>
                    <a:pt x="0" y="482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blipFill>
              <a:blip r:embed="rId10"/>
              <a:stretch>
                <a:fillRect l="0" t="-4200" r="0" b="-420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4953000" y="4762500"/>
            <a:ext cx="1905000" cy="3810000"/>
            <a:chOff x="0" y="0"/>
            <a:chExt cx="2540000" cy="5080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540000" cy="5080000"/>
            </a:xfrm>
            <a:custGeom>
              <a:avLst/>
              <a:gdLst/>
              <a:ahLst/>
              <a:cxnLst/>
              <a:rect r="r" b="b" t="t" l="l"/>
              <a:pathLst>
                <a:path h="5080000" w="2540000">
                  <a:moveTo>
                    <a:pt x="254000" y="0"/>
                  </a:moveTo>
                  <a:lnTo>
                    <a:pt x="2286000" y="0"/>
                  </a:lnTo>
                  <a:cubicBezTo>
                    <a:pt x="2426280" y="0"/>
                    <a:pt x="2540000" y="113720"/>
                    <a:pt x="2540000" y="254000"/>
                  </a:cubicBezTo>
                  <a:lnTo>
                    <a:pt x="2540000" y="4826000"/>
                  </a:lnTo>
                  <a:cubicBezTo>
                    <a:pt x="2540000" y="4966280"/>
                    <a:pt x="2426280" y="5080000"/>
                    <a:pt x="2286000" y="5080000"/>
                  </a:cubicBezTo>
                  <a:lnTo>
                    <a:pt x="254000" y="5080000"/>
                  </a:lnTo>
                  <a:cubicBezTo>
                    <a:pt x="113720" y="5080000"/>
                    <a:pt x="0" y="4966280"/>
                    <a:pt x="0" y="482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blipFill>
              <a:blip r:embed="rId11"/>
              <a:stretch>
                <a:fillRect l="0" t="-4347" r="0" b="-4347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8191500" y="4762500"/>
            <a:ext cx="1905000" cy="3810000"/>
            <a:chOff x="0" y="0"/>
            <a:chExt cx="2540000" cy="5080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40000" cy="5080000"/>
            </a:xfrm>
            <a:custGeom>
              <a:avLst/>
              <a:gdLst/>
              <a:ahLst/>
              <a:cxnLst/>
              <a:rect r="r" b="b" t="t" l="l"/>
              <a:pathLst>
                <a:path h="5080000" w="2540000">
                  <a:moveTo>
                    <a:pt x="254000" y="0"/>
                  </a:moveTo>
                  <a:lnTo>
                    <a:pt x="2286000" y="0"/>
                  </a:lnTo>
                  <a:cubicBezTo>
                    <a:pt x="2426280" y="0"/>
                    <a:pt x="2540000" y="113720"/>
                    <a:pt x="2540000" y="254000"/>
                  </a:cubicBezTo>
                  <a:lnTo>
                    <a:pt x="2540000" y="4826000"/>
                  </a:lnTo>
                  <a:cubicBezTo>
                    <a:pt x="2540000" y="4966280"/>
                    <a:pt x="2426280" y="5080000"/>
                    <a:pt x="2286000" y="5080000"/>
                  </a:cubicBezTo>
                  <a:lnTo>
                    <a:pt x="254000" y="5080000"/>
                  </a:lnTo>
                  <a:cubicBezTo>
                    <a:pt x="113720" y="5080000"/>
                    <a:pt x="0" y="4966280"/>
                    <a:pt x="0" y="482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blipFill>
              <a:blip r:embed="rId12"/>
              <a:stretch>
                <a:fillRect l="0" t="-4347" r="0" b="-4347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1430000" y="4762500"/>
            <a:ext cx="1905000" cy="3810000"/>
            <a:chOff x="0" y="0"/>
            <a:chExt cx="2540000" cy="5080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540000" cy="5080000"/>
            </a:xfrm>
            <a:custGeom>
              <a:avLst/>
              <a:gdLst/>
              <a:ahLst/>
              <a:cxnLst/>
              <a:rect r="r" b="b" t="t" l="l"/>
              <a:pathLst>
                <a:path h="5080000" w="2540000">
                  <a:moveTo>
                    <a:pt x="254000" y="0"/>
                  </a:moveTo>
                  <a:lnTo>
                    <a:pt x="2286000" y="0"/>
                  </a:lnTo>
                  <a:cubicBezTo>
                    <a:pt x="2426280" y="0"/>
                    <a:pt x="2540000" y="113720"/>
                    <a:pt x="2540000" y="254000"/>
                  </a:cubicBezTo>
                  <a:lnTo>
                    <a:pt x="2540000" y="4826000"/>
                  </a:lnTo>
                  <a:cubicBezTo>
                    <a:pt x="2540000" y="4966280"/>
                    <a:pt x="2426280" y="5080000"/>
                    <a:pt x="2286000" y="5080000"/>
                  </a:cubicBezTo>
                  <a:lnTo>
                    <a:pt x="254000" y="5080000"/>
                  </a:lnTo>
                  <a:cubicBezTo>
                    <a:pt x="113720" y="5080000"/>
                    <a:pt x="0" y="4966280"/>
                    <a:pt x="0" y="482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blipFill>
              <a:blip r:embed="rId13"/>
              <a:stretch>
                <a:fillRect l="0" t="-4347" r="0" b="-4347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4668500" y="4762500"/>
            <a:ext cx="1905000" cy="3810000"/>
            <a:chOff x="0" y="0"/>
            <a:chExt cx="2540000" cy="508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540000" cy="5080000"/>
            </a:xfrm>
            <a:custGeom>
              <a:avLst/>
              <a:gdLst/>
              <a:ahLst/>
              <a:cxnLst/>
              <a:rect r="r" b="b" t="t" l="l"/>
              <a:pathLst>
                <a:path h="5080000" w="2540000">
                  <a:moveTo>
                    <a:pt x="254000" y="0"/>
                  </a:moveTo>
                  <a:lnTo>
                    <a:pt x="2286000" y="0"/>
                  </a:lnTo>
                  <a:cubicBezTo>
                    <a:pt x="2426280" y="0"/>
                    <a:pt x="2540000" y="113720"/>
                    <a:pt x="2540000" y="254000"/>
                  </a:cubicBezTo>
                  <a:lnTo>
                    <a:pt x="2540000" y="4826000"/>
                  </a:lnTo>
                  <a:cubicBezTo>
                    <a:pt x="2540000" y="4966280"/>
                    <a:pt x="2426280" y="5080000"/>
                    <a:pt x="2286000" y="5080000"/>
                  </a:cubicBezTo>
                  <a:lnTo>
                    <a:pt x="254000" y="5080000"/>
                  </a:lnTo>
                  <a:cubicBezTo>
                    <a:pt x="113720" y="5080000"/>
                    <a:pt x="0" y="4966280"/>
                    <a:pt x="0" y="482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1685925" y="2686050"/>
            <a:ext cx="5715000" cy="523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199"/>
              </a:lnSpc>
              <a:spcBef>
                <a:spcPct val="0"/>
              </a:spcBef>
            </a:pPr>
            <a:r>
              <a:rPr lang="en-US" b="true" sz="3000" strike="noStrike" u="non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App Screenshots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85925" y="1514475"/>
            <a:ext cx="7620000" cy="1260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802"/>
              </a:lnSpc>
              <a:spcBef>
                <a:spcPct val="0"/>
              </a:spcBef>
            </a:pPr>
            <a:r>
              <a:rPr lang="en-US" sz="69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주요 화면 구성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52425" y="714375"/>
            <a:ext cx="3324225" cy="5322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37"/>
              </a:lnSpc>
            </a:pPr>
            <a:r>
              <a:rPr lang="en-US" sz="266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번호팅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887450" y="628650"/>
            <a:ext cx="1590675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50" b="tru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화면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5030450" y="647700"/>
            <a:ext cx="2228850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50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기대 효과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144000" y="646824"/>
            <a:ext cx="1662551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홈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609451" y="646824"/>
            <a:ext cx="1907086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소개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524000" y="8743950"/>
            <a:ext cx="22860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1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로그인 화면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762500" y="8743950"/>
            <a:ext cx="22860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1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메인 화면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001000" y="8743950"/>
            <a:ext cx="22860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1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프로필 화면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239500" y="8743950"/>
            <a:ext cx="22860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1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매칭 화면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478000" y="8743950"/>
            <a:ext cx="22860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1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채팅 화면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100000">
              <a:srgbClr val="C7C9FF">
                <a:alpha val="69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155953" y="8131435"/>
            <a:ext cx="1245603" cy="1247727"/>
            <a:chOff x="0" y="0"/>
            <a:chExt cx="1660804" cy="16636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60779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0779">
                  <a:moveTo>
                    <a:pt x="0" y="0"/>
                  </a:moveTo>
                  <a:lnTo>
                    <a:pt x="1660779" y="0"/>
                  </a:lnTo>
                  <a:lnTo>
                    <a:pt x="1660779" y="1663700"/>
                  </a:lnTo>
                  <a:lnTo>
                    <a:pt x="0" y="1663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27" r="-1" b="-12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311158" y="-2289153"/>
            <a:ext cx="13467550" cy="17020604"/>
            <a:chOff x="0" y="0"/>
            <a:chExt cx="17956733" cy="226941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956785" cy="22694137"/>
            </a:xfrm>
            <a:custGeom>
              <a:avLst/>
              <a:gdLst/>
              <a:ahLst/>
              <a:cxnLst/>
              <a:rect r="r" b="b" t="t" l="l"/>
              <a:pathLst>
                <a:path h="22694137" w="17956785">
                  <a:moveTo>
                    <a:pt x="0" y="0"/>
                  </a:moveTo>
                  <a:lnTo>
                    <a:pt x="17956785" y="0"/>
                  </a:lnTo>
                  <a:lnTo>
                    <a:pt x="17956785" y="22694137"/>
                  </a:lnTo>
                  <a:lnTo>
                    <a:pt x="0" y="22694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20999"/>
              </a:blip>
              <a:stretch>
                <a:fillRect l="-58" t="0" r="-57" b="0"/>
              </a:stretch>
            </a:blip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0995365" y="-5584831"/>
            <a:ext cx="12527861" cy="12527861"/>
          </a:xfrm>
          <a:custGeom>
            <a:avLst/>
            <a:gdLst/>
            <a:ahLst/>
            <a:cxnLst/>
            <a:rect r="r" b="b" t="t" l="l"/>
            <a:pathLst>
              <a:path h="12527861" w="12527861">
                <a:moveTo>
                  <a:pt x="0" y="0"/>
                </a:moveTo>
                <a:lnTo>
                  <a:pt x="12527861" y="0"/>
                </a:lnTo>
                <a:lnTo>
                  <a:pt x="12527861" y="12527861"/>
                </a:lnTo>
                <a:lnTo>
                  <a:pt x="0" y="1252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702892" y="-3877304"/>
            <a:ext cx="9112806" cy="9112806"/>
          </a:xfrm>
          <a:custGeom>
            <a:avLst/>
            <a:gdLst/>
            <a:ahLst/>
            <a:cxnLst/>
            <a:rect r="r" b="b" t="t" l="l"/>
            <a:pathLst>
              <a:path h="9112806" w="9112806">
                <a:moveTo>
                  <a:pt x="0" y="0"/>
                </a:moveTo>
                <a:lnTo>
                  <a:pt x="9112806" y="0"/>
                </a:lnTo>
                <a:lnTo>
                  <a:pt x="9112806" y="9112806"/>
                </a:lnTo>
                <a:lnTo>
                  <a:pt x="0" y="91128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685925" y="1790700"/>
            <a:ext cx="10182225" cy="21495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22"/>
              </a:lnSpc>
            </a:pPr>
            <a:r>
              <a:rPr lang="en-US" sz="10229" b="tru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개선 예정 기능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85925" y="3924300"/>
            <a:ext cx="6248400" cy="67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88"/>
              </a:lnSpc>
            </a:pPr>
            <a:r>
              <a:rPr lang="en-US" sz="3277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Future Improvements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04975" y="4800600"/>
            <a:ext cx="6667500" cy="1958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757"/>
              </a:lnSpc>
            </a:pPr>
            <a:r>
              <a:rPr lang="en-US" sz="268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- Firebase DB 연동 및 서버 사용</a:t>
            </a:r>
          </a:p>
          <a:p>
            <a:pPr algn="just">
              <a:lnSpc>
                <a:spcPts val="3757"/>
              </a:lnSpc>
            </a:pPr>
            <a:r>
              <a:rPr lang="en-US" sz="268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- 채팅 내역 저장 기능</a:t>
            </a:r>
          </a:p>
          <a:p>
            <a:pPr algn="just">
              <a:lnSpc>
                <a:spcPts val="3757"/>
              </a:lnSpc>
            </a:pPr>
            <a:r>
              <a:rPr lang="en-US" sz="268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- 신고 기능</a:t>
            </a:r>
          </a:p>
          <a:p>
            <a:pPr algn="just">
              <a:lnSpc>
                <a:spcPts val="3757"/>
              </a:lnSpc>
            </a:pPr>
            <a:r>
              <a:rPr lang="en-US" sz="268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- 푸시 알림 기능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440836" y="574681"/>
            <a:ext cx="4385300" cy="879824"/>
          </a:xfrm>
          <a:custGeom>
            <a:avLst/>
            <a:gdLst/>
            <a:ahLst/>
            <a:cxnLst/>
            <a:rect r="r" b="b" t="t" l="l"/>
            <a:pathLst>
              <a:path h="879824" w="4385300">
                <a:moveTo>
                  <a:pt x="0" y="0"/>
                </a:moveTo>
                <a:lnTo>
                  <a:pt x="4385300" y="0"/>
                </a:lnTo>
                <a:lnTo>
                  <a:pt x="4385300" y="879825"/>
                </a:lnTo>
                <a:lnTo>
                  <a:pt x="0" y="87982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52425" y="714375"/>
            <a:ext cx="3324225" cy="5322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37"/>
              </a:lnSpc>
            </a:pPr>
            <a:r>
              <a:rPr lang="en-US" sz="266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번호팅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887450" y="628650"/>
            <a:ext cx="1590675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50" b="tru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개선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030450" y="647700"/>
            <a:ext cx="2228850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50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감사합니다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144000" y="646824"/>
            <a:ext cx="1662551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홈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09451" y="646824"/>
            <a:ext cx="1907086" cy="40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sz="1949" b="true">
                <a:solidFill>
                  <a:srgbClr val="081269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소개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048750" y="4800600"/>
            <a:ext cx="6667500" cy="1489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757"/>
              </a:lnSpc>
            </a:pPr>
            <a:r>
              <a:rPr lang="en-US" sz="268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향후 안정성과 사용자 경험을</a:t>
            </a:r>
          </a:p>
          <a:p>
            <a:pPr algn="just">
              <a:lnSpc>
                <a:spcPts val="3757"/>
              </a:lnSpc>
            </a:pPr>
            <a:r>
              <a:rPr lang="en-US" sz="268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개선하기 위해 위 기능들을</a:t>
            </a:r>
          </a:p>
          <a:p>
            <a:pPr algn="just">
              <a:lnSpc>
                <a:spcPts val="3757"/>
              </a:lnSpc>
            </a:pPr>
            <a:r>
              <a:rPr lang="en-US" sz="2683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순차적으로 구현할 예정입니다.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C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253441" y="8252441"/>
            <a:ext cx="1005859" cy="1005859"/>
          </a:xfrm>
          <a:custGeom>
            <a:avLst/>
            <a:gdLst/>
            <a:ahLst/>
            <a:cxnLst/>
            <a:rect r="r" b="b" t="t" l="l"/>
            <a:pathLst>
              <a:path h="1005859" w="1005859">
                <a:moveTo>
                  <a:pt x="0" y="0"/>
                </a:moveTo>
                <a:lnTo>
                  <a:pt x="1005859" y="0"/>
                </a:lnTo>
                <a:lnTo>
                  <a:pt x="1005859" y="1005859"/>
                </a:lnTo>
                <a:lnTo>
                  <a:pt x="0" y="10058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40836" y="574681"/>
            <a:ext cx="4385300" cy="879824"/>
          </a:xfrm>
          <a:custGeom>
            <a:avLst/>
            <a:gdLst/>
            <a:ahLst/>
            <a:cxnLst/>
            <a:rect r="r" b="b" t="t" l="l"/>
            <a:pathLst>
              <a:path h="879824" w="4385300">
                <a:moveTo>
                  <a:pt x="0" y="0"/>
                </a:moveTo>
                <a:lnTo>
                  <a:pt x="4385300" y="0"/>
                </a:lnTo>
                <a:lnTo>
                  <a:pt x="4385300" y="879825"/>
                </a:lnTo>
                <a:lnTo>
                  <a:pt x="0" y="8798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52425" y="733425"/>
            <a:ext cx="3324225" cy="431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1"/>
              </a:lnSpc>
            </a:pPr>
            <a:r>
              <a:rPr lang="en-US" sz="2129" b="true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번호팅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890574" y="662959"/>
            <a:ext cx="1589189" cy="303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2"/>
              </a:lnSpc>
            </a:pPr>
            <a:r>
              <a:rPr lang="en-US" sz="1551" b="true">
                <a:solidFill>
                  <a:srgbClr val="FFFFFF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기능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034327" y="684924"/>
            <a:ext cx="2224973" cy="303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72"/>
              </a:lnSpc>
            </a:pPr>
            <a:r>
              <a:rPr lang="en-US" sz="1551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문의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144000" y="684924"/>
            <a:ext cx="1662551" cy="303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72"/>
              </a:lnSpc>
            </a:pPr>
            <a:r>
              <a:rPr lang="en-US" sz="1551" b="true">
                <a:solidFill>
                  <a:srgbClr val="FFFFFF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소개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609451" y="684924"/>
            <a:ext cx="1907086" cy="303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2"/>
              </a:lnSpc>
            </a:pPr>
            <a:r>
              <a:rPr lang="en-US" sz="1551" b="true">
                <a:solidFill>
                  <a:srgbClr val="FFFFFF">
                    <a:alpha val="49412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기술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3944464" y="-3109003"/>
            <a:ext cx="15993685" cy="15993685"/>
          </a:xfrm>
          <a:custGeom>
            <a:avLst/>
            <a:gdLst/>
            <a:ahLst/>
            <a:cxnLst/>
            <a:rect r="r" b="b" t="t" l="l"/>
            <a:pathLst>
              <a:path h="15993685" w="15993685">
                <a:moveTo>
                  <a:pt x="0" y="0"/>
                </a:moveTo>
                <a:lnTo>
                  <a:pt x="15993685" y="0"/>
                </a:lnTo>
                <a:lnTo>
                  <a:pt x="15993685" y="15993685"/>
                </a:lnTo>
                <a:lnTo>
                  <a:pt x="0" y="1599368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6018628" y="2738742"/>
            <a:ext cx="14094657" cy="14094657"/>
          </a:xfrm>
          <a:custGeom>
            <a:avLst/>
            <a:gdLst/>
            <a:ahLst/>
            <a:cxnLst/>
            <a:rect r="r" b="b" t="t" l="l"/>
            <a:pathLst>
              <a:path h="14094657" w="14094657">
                <a:moveTo>
                  <a:pt x="0" y="0"/>
                </a:moveTo>
                <a:lnTo>
                  <a:pt x="14094656" y="0"/>
                </a:lnTo>
                <a:lnTo>
                  <a:pt x="14094656" y="14094657"/>
                </a:lnTo>
                <a:lnTo>
                  <a:pt x="0" y="1409465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8991600" y="1838325"/>
            <a:ext cx="5686425" cy="1752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35"/>
              </a:lnSpc>
            </a:pPr>
            <a:r>
              <a:rPr lang="en-US" sz="8382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기대 효과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010650" y="4876800"/>
            <a:ext cx="6296025" cy="450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4"/>
              </a:lnSpc>
              <a:spcBef>
                <a:spcPct val="0"/>
              </a:spcBef>
            </a:pPr>
            <a:r>
              <a:rPr lang="en-US" sz="2509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- 개인정보 노출 없는 안전한 소통 환경 제공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991600" y="5534636"/>
            <a:ext cx="6296025" cy="374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60"/>
              </a:lnSpc>
              <a:spcBef>
                <a:spcPct val="0"/>
              </a:spcBef>
            </a:pPr>
            <a:r>
              <a:rPr lang="en-US" sz="2509" spc="240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- 공주대학생 대상 실명 번호팅 형성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991600" y="6042817"/>
            <a:ext cx="6296025" cy="450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4"/>
              </a:lnSpc>
              <a:spcBef>
                <a:spcPct val="0"/>
              </a:spcBef>
            </a:pPr>
            <a:r>
              <a:rPr lang="en-US" sz="2509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- Flutter 기반 모바일 앱 개발 경험 확보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029700" y="6670326"/>
            <a:ext cx="6296025" cy="7178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58"/>
              </a:lnSpc>
              <a:spcBef>
                <a:spcPct val="0"/>
              </a:spcBef>
            </a:pPr>
            <a:r>
              <a:rPr lang="en-US" b="true" sz="2509" spc="238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- Socket 기반 실시간 통신 구현 경험 </a:t>
            </a:r>
          </a:p>
          <a:p>
            <a:pPr algn="l" marL="0" indent="0" lvl="0">
              <a:lnSpc>
                <a:spcPts val="2760"/>
              </a:lnSpc>
              <a:spcBef>
                <a:spcPct val="0"/>
              </a:spcBef>
            </a:pPr>
            <a:r>
              <a:rPr lang="en-US" b="true" sz="2509" spc="240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  </a:t>
            </a:r>
            <a:r>
              <a:rPr lang="en-US" b="true" sz="2509" spc="240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확보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029700" y="4379986"/>
            <a:ext cx="2257425" cy="363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5"/>
              </a:lnSpc>
            </a:pPr>
            <a:r>
              <a:rPr lang="en-US" b="true" sz="2414" spc="23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기대 효과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-9157868" y="-2087375"/>
            <a:ext cx="15993685" cy="15993685"/>
          </a:xfrm>
          <a:custGeom>
            <a:avLst/>
            <a:gdLst/>
            <a:ahLst/>
            <a:cxnLst/>
            <a:rect r="r" b="b" t="t" l="l"/>
            <a:pathLst>
              <a:path h="15993685" w="15993685">
                <a:moveTo>
                  <a:pt x="0" y="0"/>
                </a:moveTo>
                <a:lnTo>
                  <a:pt x="15993684" y="0"/>
                </a:lnTo>
                <a:lnTo>
                  <a:pt x="15993684" y="15993684"/>
                </a:lnTo>
                <a:lnTo>
                  <a:pt x="0" y="1599368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100000">
              <a:srgbClr val="C7C9FF">
                <a:alpha val="69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155953" y="8131435"/>
            <a:ext cx="1245603" cy="1247727"/>
            <a:chOff x="0" y="0"/>
            <a:chExt cx="1660804" cy="16636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60779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0779">
                  <a:moveTo>
                    <a:pt x="0" y="0"/>
                  </a:moveTo>
                  <a:lnTo>
                    <a:pt x="1660779" y="0"/>
                  </a:lnTo>
                  <a:lnTo>
                    <a:pt x="1660779" y="1663700"/>
                  </a:lnTo>
                  <a:lnTo>
                    <a:pt x="0" y="1663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27" r="-1" b="-12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311158" y="-2289153"/>
            <a:ext cx="13467550" cy="17020604"/>
            <a:chOff x="0" y="0"/>
            <a:chExt cx="17956733" cy="226941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956785" cy="22694137"/>
            </a:xfrm>
            <a:custGeom>
              <a:avLst/>
              <a:gdLst/>
              <a:ahLst/>
              <a:cxnLst/>
              <a:rect r="r" b="b" t="t" l="l"/>
              <a:pathLst>
                <a:path h="22694137" w="17956785">
                  <a:moveTo>
                    <a:pt x="0" y="0"/>
                  </a:moveTo>
                  <a:lnTo>
                    <a:pt x="17956785" y="0"/>
                  </a:lnTo>
                  <a:lnTo>
                    <a:pt x="17956785" y="22694137"/>
                  </a:lnTo>
                  <a:lnTo>
                    <a:pt x="0" y="22694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20999"/>
              </a:blip>
              <a:stretch>
                <a:fillRect l="-58" t="0" r="-57" b="0"/>
              </a:stretch>
            </a:blip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0995365" y="-5584831"/>
            <a:ext cx="12527861" cy="12527861"/>
          </a:xfrm>
          <a:custGeom>
            <a:avLst/>
            <a:gdLst/>
            <a:ahLst/>
            <a:cxnLst/>
            <a:rect r="r" b="b" t="t" l="l"/>
            <a:pathLst>
              <a:path h="12527861" w="12527861">
                <a:moveTo>
                  <a:pt x="0" y="0"/>
                </a:moveTo>
                <a:lnTo>
                  <a:pt x="12527861" y="0"/>
                </a:lnTo>
                <a:lnTo>
                  <a:pt x="12527861" y="12527861"/>
                </a:lnTo>
                <a:lnTo>
                  <a:pt x="0" y="1252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562994" y="-3558057"/>
            <a:ext cx="9112806" cy="9112806"/>
          </a:xfrm>
          <a:custGeom>
            <a:avLst/>
            <a:gdLst/>
            <a:ahLst/>
            <a:cxnLst/>
            <a:rect r="r" b="b" t="t" l="l"/>
            <a:pathLst>
              <a:path h="9112806" w="9112806">
                <a:moveTo>
                  <a:pt x="0" y="0"/>
                </a:moveTo>
                <a:lnTo>
                  <a:pt x="9112806" y="0"/>
                </a:lnTo>
                <a:lnTo>
                  <a:pt x="9112806" y="9112806"/>
                </a:lnTo>
                <a:lnTo>
                  <a:pt x="0" y="91128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685925" y="1790700"/>
            <a:ext cx="10182225" cy="18451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322"/>
              </a:lnSpc>
              <a:spcBef>
                <a:spcPct val="0"/>
              </a:spcBef>
            </a:pPr>
            <a:r>
              <a:rPr lang="en-US" b="true" sz="10230" strike="noStrike" u="none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Q &amp; 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85925" y="3924300"/>
            <a:ext cx="6248400" cy="583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93"/>
              </a:lnSpc>
              <a:spcBef>
                <a:spcPct val="0"/>
              </a:spcBef>
            </a:pPr>
            <a:r>
              <a:rPr lang="en-US" sz="327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질문 및 답변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04975" y="4800600"/>
            <a:ext cx="6667500" cy="23894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751"/>
              </a:lnSpc>
              <a:spcBef>
                <a:spcPct val="0"/>
              </a:spcBef>
            </a:pPr>
            <a:r>
              <a:rPr lang="en-US" sz="267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발표를 들어주셔서</a:t>
            </a:r>
          </a:p>
          <a:p>
            <a:pPr algn="just" marL="0" indent="0" lvl="0">
              <a:lnSpc>
                <a:spcPts val="3751"/>
              </a:lnSpc>
              <a:spcBef>
                <a:spcPct val="0"/>
              </a:spcBef>
            </a:pPr>
            <a:r>
              <a:rPr lang="en-US" sz="267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감사합니다.</a:t>
            </a:r>
          </a:p>
          <a:p>
            <a:pPr algn="just" marL="0" indent="0" lvl="0">
              <a:lnSpc>
                <a:spcPts val="3751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3751"/>
              </a:lnSpc>
              <a:spcBef>
                <a:spcPct val="0"/>
              </a:spcBef>
            </a:pPr>
            <a:r>
              <a:rPr lang="en-US" sz="267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궁금한 점이 있으시면</a:t>
            </a:r>
          </a:p>
          <a:p>
            <a:pPr algn="just" marL="0" indent="0" lvl="0">
              <a:lnSpc>
                <a:spcPts val="3751"/>
              </a:lnSpc>
              <a:spcBef>
                <a:spcPct val="0"/>
              </a:spcBef>
            </a:pPr>
            <a:r>
              <a:rPr lang="en-US" sz="2679" strike="noStrike" u="none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자유롭게 질문해 주세요.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440836" y="574681"/>
            <a:ext cx="4385300" cy="879824"/>
          </a:xfrm>
          <a:custGeom>
            <a:avLst/>
            <a:gdLst/>
            <a:ahLst/>
            <a:cxnLst/>
            <a:rect r="r" b="b" t="t" l="l"/>
            <a:pathLst>
              <a:path h="879824" w="4385300">
                <a:moveTo>
                  <a:pt x="0" y="0"/>
                </a:moveTo>
                <a:lnTo>
                  <a:pt x="4385300" y="0"/>
                </a:lnTo>
                <a:lnTo>
                  <a:pt x="4385300" y="879825"/>
                </a:lnTo>
                <a:lnTo>
                  <a:pt x="0" y="87982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52425" y="714375"/>
            <a:ext cx="3324225" cy="5322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37"/>
              </a:lnSpc>
            </a:pPr>
            <a:r>
              <a:rPr lang="en-US" sz="266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번호팅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DAHKRXHObdw</dc:identifier>
  <dcterms:modified xsi:type="dcterms:W3CDTF">2011-08-01T06:04:30Z</dcterms:modified>
  <cp:revision>1</cp:revision>
  <dc:title>번호팅 익명 랜덤 채팅 앱 소개서.pptx</dc:title>
</cp:coreProperties>
</file>