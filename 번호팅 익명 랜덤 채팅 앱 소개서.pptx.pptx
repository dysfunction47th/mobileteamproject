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8288000" cy="10287000"/>
  <p:notesSz cx="6858000" cy="9144000"/>
  <p:embeddedFontLst>
    <p:embeddedFont>
      <p:font typeface="Nanum Square Bold" panose="020B0600000101010101" charset="-127"/>
      <p:regular r:id="rId14"/>
    </p:embeddedFont>
    <p:embeddedFont>
      <p:font typeface="HY견고딕" panose="02030600000101010101" pitchFamily="18" charset="-127"/>
      <p:regular r:id="rId15"/>
    </p:embeddedFont>
    <p:embeddedFont>
      <p:font typeface="Inter Bold" panose="020B0600000101010101" charset="0"/>
      <p:regular r:id="rId16"/>
    </p:embeddedFont>
    <p:embeddedFont>
      <p:font typeface="Poppins" panose="00000500000000000000" pitchFamily="2" charset="0"/>
      <p:regular r:id="rId17"/>
      <p:bold r:id="rId18"/>
    </p:embeddedFont>
    <p:embeddedFont>
      <p:font typeface="Poppins Bold" panose="00000800000000000000" charset="0"/>
      <p:regular r:id="rId19"/>
    </p:embeddedFont>
    <p:embeddedFont>
      <p:font typeface="Telegraf" panose="020B0600000101010101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23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31.png"/><Relationship Id="rId7" Type="http://schemas.openxmlformats.org/officeDocument/2006/relationships/image" Target="../media/image35.jpeg"/><Relationship Id="rId12" Type="http://schemas.openxmlformats.org/officeDocument/2006/relationships/image" Target="../media/image40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svg"/><Relationship Id="rId10" Type="http://schemas.openxmlformats.org/officeDocument/2006/relationships/image" Target="../media/image38.jpeg"/><Relationship Id="rId4" Type="http://schemas.openxmlformats.org/officeDocument/2006/relationships/image" Target="../media/image32.svg"/><Relationship Id="rId9" Type="http://schemas.openxmlformats.org/officeDocument/2006/relationships/image" Target="../media/image3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C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5730" y="-108004"/>
            <a:ext cx="18839459" cy="10502998"/>
            <a:chOff x="0" y="0"/>
            <a:chExt cx="25119279" cy="140039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19330" cy="14004037"/>
            </a:xfrm>
            <a:custGeom>
              <a:avLst/>
              <a:gdLst/>
              <a:ahLst/>
              <a:cxnLst/>
              <a:rect l="l" t="t" r="r" b="b"/>
              <a:pathLst>
                <a:path w="25119330" h="14004037">
                  <a:moveTo>
                    <a:pt x="0" y="0"/>
                  </a:moveTo>
                  <a:lnTo>
                    <a:pt x="25119330" y="0"/>
                  </a:lnTo>
                  <a:lnTo>
                    <a:pt x="25119330" y="14004037"/>
                  </a:lnTo>
                  <a:lnTo>
                    <a:pt x="0" y="14004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7" b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14220" y="548440"/>
            <a:ext cx="684571" cy="656434"/>
            <a:chOff x="0" y="0"/>
            <a:chExt cx="912762" cy="875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2749" cy="875284"/>
            </a:xfrm>
            <a:custGeom>
              <a:avLst/>
              <a:gdLst/>
              <a:ahLst/>
              <a:cxnLst/>
              <a:rect l="l" t="t" r="r" b="b"/>
              <a:pathLst>
                <a:path w="912749" h="875284">
                  <a:moveTo>
                    <a:pt x="0" y="0"/>
                  </a:moveTo>
                  <a:lnTo>
                    <a:pt x="912749" y="0"/>
                  </a:lnTo>
                  <a:lnTo>
                    <a:pt x="912749" y="875284"/>
                  </a:lnTo>
                  <a:lnTo>
                    <a:pt x="0" y="875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6" r="-1" b="-5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746866" y="565233"/>
            <a:ext cx="1733226" cy="48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2337" b="1">
                <a:solidFill>
                  <a:srgbClr val="FFFFFF">
                    <a:alpha val="49412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46705" y="565233"/>
            <a:ext cx="1168051" cy="48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2337" b="1">
                <a:solidFill>
                  <a:srgbClr val="FFFFFF">
                    <a:alpha val="49412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19050" y="565233"/>
            <a:ext cx="1168051" cy="48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2337" b="1">
                <a:solidFill>
                  <a:srgbClr val="FFFFFF">
                    <a:alpha val="49412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53714" y="571424"/>
            <a:ext cx="979656" cy="47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1"/>
              </a:lnSpc>
            </a:pPr>
            <a:r>
              <a:rPr lang="en-US" sz="2286" b="1">
                <a:solidFill>
                  <a:srgbClr val="FFFFFF">
                    <a:alpha val="49412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Market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600" y="2266950"/>
            <a:ext cx="4762500" cy="1066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2"/>
              </a:lnSpc>
            </a:pPr>
            <a:r>
              <a:rPr lang="en-US" sz="937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번호팅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0600" y="3619500"/>
            <a:ext cx="4572000" cy="746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72"/>
              </a:lnSpc>
            </a:pPr>
            <a:r>
              <a:rPr lang="en-US" sz="49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실명</a:t>
            </a:r>
            <a:r>
              <a:rPr lang="en-US" sz="49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49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랜덤</a:t>
            </a:r>
            <a:r>
              <a:rPr lang="en-US" sz="49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4900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채팅</a:t>
            </a:r>
            <a:endParaRPr lang="en-US" sz="4900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3318" y="5225748"/>
            <a:ext cx="5715000" cy="123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대학생을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위한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실명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랜덤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채팅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앱.</a:t>
            </a:r>
          </a:p>
          <a:p>
            <a:pPr algn="l">
              <a:lnSpc>
                <a:spcPts val="3240"/>
              </a:lnSpc>
            </a:pP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카카오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로그인으로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간편하게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접속하고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실시간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매칭을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시작하세요</a:t>
            </a:r>
            <a:r>
              <a:rPr lang="en-US" sz="2400" b="1" dirty="0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375707" y="1861309"/>
            <a:ext cx="4956315" cy="7658433"/>
            <a:chOff x="0" y="0"/>
            <a:chExt cx="6608420" cy="102112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8445" cy="10211308"/>
            </a:xfrm>
            <a:custGeom>
              <a:avLst/>
              <a:gdLst/>
              <a:ahLst/>
              <a:cxnLst/>
              <a:rect l="l" t="t" r="r" b="b"/>
              <a:pathLst>
                <a:path w="6608445" h="10211308">
                  <a:moveTo>
                    <a:pt x="0" y="0"/>
                  </a:moveTo>
                  <a:lnTo>
                    <a:pt x="6608445" y="0"/>
                  </a:lnTo>
                  <a:lnTo>
                    <a:pt x="6608445" y="10211308"/>
                  </a:lnTo>
                  <a:lnTo>
                    <a:pt x="0" y="10211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7" b="-5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485768" y="2736561"/>
            <a:ext cx="2697223" cy="1750504"/>
            <a:chOff x="0" y="0"/>
            <a:chExt cx="3596297" cy="23340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96259" cy="2334006"/>
            </a:xfrm>
            <a:custGeom>
              <a:avLst/>
              <a:gdLst/>
              <a:ahLst/>
              <a:cxnLst/>
              <a:rect l="l" t="t" r="r" b="b"/>
              <a:pathLst>
                <a:path w="3596259" h="2334006">
                  <a:moveTo>
                    <a:pt x="0" y="0"/>
                  </a:moveTo>
                  <a:lnTo>
                    <a:pt x="3596259" y="0"/>
                  </a:lnTo>
                  <a:lnTo>
                    <a:pt x="3596259" y="2334006"/>
                  </a:lnTo>
                  <a:lnTo>
                    <a:pt x="0" y="2334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" r="-1" b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33949" y="5799934"/>
            <a:ext cx="2478157" cy="1969313"/>
            <a:chOff x="0" y="0"/>
            <a:chExt cx="3304210" cy="26257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04159" cy="2625725"/>
            </a:xfrm>
            <a:custGeom>
              <a:avLst/>
              <a:gdLst/>
              <a:ahLst/>
              <a:cxnLst/>
              <a:rect l="l" t="t" r="r" b="b"/>
              <a:pathLst>
                <a:path w="3304159" h="2625725">
                  <a:moveTo>
                    <a:pt x="0" y="0"/>
                  </a:moveTo>
                  <a:lnTo>
                    <a:pt x="3304159" y="0"/>
                  </a:lnTo>
                  <a:lnTo>
                    <a:pt x="3304159" y="2625725"/>
                  </a:lnTo>
                  <a:lnTo>
                    <a:pt x="0" y="2625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" r="-1" b="-5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291996" y="6237561"/>
            <a:ext cx="2478157" cy="2188121"/>
            <a:chOff x="0" y="0"/>
            <a:chExt cx="3304210" cy="291749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04159" cy="2917444"/>
            </a:xfrm>
            <a:custGeom>
              <a:avLst/>
              <a:gdLst/>
              <a:ahLst/>
              <a:cxnLst/>
              <a:rect l="l" t="t" r="r" b="b"/>
              <a:pathLst>
                <a:path w="3304159" h="2917444">
                  <a:moveTo>
                    <a:pt x="0" y="0"/>
                  </a:moveTo>
                  <a:lnTo>
                    <a:pt x="3304159" y="0"/>
                  </a:lnTo>
                  <a:lnTo>
                    <a:pt x="3304159" y="2917444"/>
                  </a:lnTo>
                  <a:lnTo>
                    <a:pt x="0" y="2917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7" r="-1" b="-5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950228" y="2298935"/>
            <a:ext cx="684571" cy="656434"/>
            <a:chOff x="0" y="0"/>
            <a:chExt cx="912762" cy="87524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2749" cy="875284"/>
            </a:xfrm>
            <a:custGeom>
              <a:avLst/>
              <a:gdLst/>
              <a:ahLst/>
              <a:cxnLst/>
              <a:rect l="l" t="t" r="r" b="b"/>
              <a:pathLst>
                <a:path w="912749" h="875284">
                  <a:moveTo>
                    <a:pt x="0" y="0"/>
                  </a:moveTo>
                  <a:lnTo>
                    <a:pt x="912749" y="0"/>
                  </a:lnTo>
                  <a:lnTo>
                    <a:pt x="912749" y="875284"/>
                  </a:lnTo>
                  <a:lnTo>
                    <a:pt x="0" y="875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6" r="-1" b="-5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950228" y="2955379"/>
            <a:ext cx="903637" cy="437626"/>
            <a:chOff x="0" y="0"/>
            <a:chExt cx="1204849" cy="58350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04849" cy="583438"/>
            </a:xfrm>
            <a:custGeom>
              <a:avLst/>
              <a:gdLst/>
              <a:ahLst/>
              <a:cxnLst/>
              <a:rect l="l" t="t" r="r" b="b"/>
              <a:pathLst>
                <a:path w="1204849" h="583438">
                  <a:moveTo>
                    <a:pt x="0" y="0"/>
                  </a:moveTo>
                  <a:lnTo>
                    <a:pt x="1204849" y="0"/>
                  </a:lnTo>
                  <a:lnTo>
                    <a:pt x="1204849" y="583438"/>
                  </a:lnTo>
                  <a:lnTo>
                    <a:pt x="0" y="583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56" b="-6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621112" y="3830622"/>
            <a:ext cx="1807274" cy="656434"/>
            <a:chOff x="0" y="0"/>
            <a:chExt cx="2409698" cy="87524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409698" cy="875284"/>
            </a:xfrm>
            <a:custGeom>
              <a:avLst/>
              <a:gdLst/>
              <a:ahLst/>
              <a:cxnLst/>
              <a:rect l="l" t="t" r="r" b="b"/>
              <a:pathLst>
                <a:path w="2409698" h="875284">
                  <a:moveTo>
                    <a:pt x="0" y="0"/>
                  </a:moveTo>
                  <a:lnTo>
                    <a:pt x="2409698" y="0"/>
                  </a:lnTo>
                  <a:lnTo>
                    <a:pt x="2409698" y="875284"/>
                  </a:lnTo>
                  <a:lnTo>
                    <a:pt x="0" y="875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58" b="-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98410" y="4487066"/>
            <a:ext cx="917324" cy="437626"/>
            <a:chOff x="0" y="0"/>
            <a:chExt cx="1223099" cy="58350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23137" cy="583438"/>
            </a:xfrm>
            <a:custGeom>
              <a:avLst/>
              <a:gdLst/>
              <a:ahLst/>
              <a:cxnLst/>
              <a:rect l="l" t="t" r="r" b="b"/>
              <a:pathLst>
                <a:path w="1223137" h="583438">
                  <a:moveTo>
                    <a:pt x="0" y="0"/>
                  </a:moveTo>
                  <a:lnTo>
                    <a:pt x="1223137" y="0"/>
                  </a:lnTo>
                  <a:lnTo>
                    <a:pt x="1223137" y="583438"/>
                  </a:lnTo>
                  <a:lnTo>
                    <a:pt x="0" y="583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56" r="3" b="-6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950228" y="5362308"/>
            <a:ext cx="2259092" cy="656434"/>
            <a:chOff x="0" y="0"/>
            <a:chExt cx="3012122" cy="87524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012186" cy="875284"/>
            </a:xfrm>
            <a:custGeom>
              <a:avLst/>
              <a:gdLst/>
              <a:ahLst/>
              <a:cxnLst/>
              <a:rect l="l" t="t" r="r" b="b"/>
              <a:pathLst>
                <a:path w="3012186" h="875284">
                  <a:moveTo>
                    <a:pt x="0" y="0"/>
                  </a:moveTo>
                  <a:lnTo>
                    <a:pt x="3012186" y="0"/>
                  </a:lnTo>
                  <a:lnTo>
                    <a:pt x="3012186" y="875284"/>
                  </a:lnTo>
                  <a:lnTo>
                    <a:pt x="0" y="875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58" r="2" b="-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498410" y="6018752"/>
            <a:ext cx="1807274" cy="875252"/>
            <a:chOff x="0" y="0"/>
            <a:chExt cx="2409698" cy="116700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409698" cy="1167003"/>
            </a:xfrm>
            <a:custGeom>
              <a:avLst/>
              <a:gdLst/>
              <a:ahLst/>
              <a:cxnLst/>
              <a:rect l="l" t="t" r="r" b="b"/>
              <a:pathLst>
                <a:path w="2409698" h="1167003">
                  <a:moveTo>
                    <a:pt x="0" y="0"/>
                  </a:moveTo>
                  <a:lnTo>
                    <a:pt x="2409698" y="0"/>
                  </a:lnTo>
                  <a:lnTo>
                    <a:pt x="2409698" y="1167003"/>
                  </a:lnTo>
                  <a:lnTo>
                    <a:pt x="0" y="1167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57" b="-5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827526" y="7988065"/>
            <a:ext cx="2710910" cy="875252"/>
            <a:chOff x="0" y="0"/>
            <a:chExt cx="3614547" cy="116700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614547" cy="1167003"/>
            </a:xfrm>
            <a:custGeom>
              <a:avLst/>
              <a:gdLst/>
              <a:ahLst/>
              <a:cxnLst/>
              <a:rect l="l" t="t" r="r" b="b"/>
              <a:pathLst>
                <a:path w="3614547" h="1167003">
                  <a:moveTo>
                    <a:pt x="0" y="0"/>
                  </a:moveTo>
                  <a:lnTo>
                    <a:pt x="3614547" y="0"/>
                  </a:lnTo>
                  <a:lnTo>
                    <a:pt x="3614547" y="1167003"/>
                  </a:lnTo>
                  <a:lnTo>
                    <a:pt x="0" y="1167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57" b="-5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621112" y="8206873"/>
            <a:ext cx="917324" cy="656434"/>
            <a:chOff x="0" y="0"/>
            <a:chExt cx="1223099" cy="87524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23137" cy="875284"/>
            </a:xfrm>
            <a:custGeom>
              <a:avLst/>
              <a:gdLst/>
              <a:ahLst/>
              <a:cxnLst/>
              <a:rect l="l" t="t" r="r" b="b"/>
              <a:pathLst>
                <a:path w="1223137" h="875284">
                  <a:moveTo>
                    <a:pt x="0" y="0"/>
                  </a:moveTo>
                  <a:lnTo>
                    <a:pt x="1223137" y="0"/>
                  </a:lnTo>
                  <a:lnTo>
                    <a:pt x="1223137" y="875284"/>
                  </a:lnTo>
                  <a:lnTo>
                    <a:pt x="0" y="875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58" r="3" b="-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937586" y="2955379"/>
            <a:ext cx="684571" cy="656434"/>
            <a:chOff x="0" y="0"/>
            <a:chExt cx="912762" cy="87524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2749" cy="875284"/>
            </a:xfrm>
            <a:custGeom>
              <a:avLst/>
              <a:gdLst/>
              <a:ahLst/>
              <a:cxnLst/>
              <a:rect l="l" t="t" r="r" b="b"/>
              <a:pathLst>
                <a:path w="912749" h="875284">
                  <a:moveTo>
                    <a:pt x="0" y="0"/>
                  </a:moveTo>
                  <a:lnTo>
                    <a:pt x="912749" y="0"/>
                  </a:lnTo>
                  <a:lnTo>
                    <a:pt x="912749" y="875284"/>
                  </a:lnTo>
                  <a:lnTo>
                    <a:pt x="0" y="875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t="-56" r="-1" b="-5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37586" y="6018752"/>
            <a:ext cx="684571" cy="656434"/>
            <a:chOff x="0" y="0"/>
            <a:chExt cx="912762" cy="87524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2749" cy="875284"/>
            </a:xfrm>
            <a:custGeom>
              <a:avLst/>
              <a:gdLst/>
              <a:ahLst/>
              <a:cxnLst/>
              <a:rect l="l" t="t" r="r" b="b"/>
              <a:pathLst>
                <a:path w="912749" h="875284">
                  <a:moveTo>
                    <a:pt x="0" y="0"/>
                  </a:moveTo>
                  <a:lnTo>
                    <a:pt x="912749" y="0"/>
                  </a:lnTo>
                  <a:lnTo>
                    <a:pt x="912749" y="875284"/>
                  </a:lnTo>
                  <a:lnTo>
                    <a:pt x="0" y="875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t="-58" r="-1" b="-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743814" y="6456378"/>
            <a:ext cx="465506" cy="656434"/>
            <a:chOff x="0" y="0"/>
            <a:chExt cx="620674" cy="87524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20649" cy="875284"/>
            </a:xfrm>
            <a:custGeom>
              <a:avLst/>
              <a:gdLst/>
              <a:ahLst/>
              <a:cxnLst/>
              <a:rect l="l" t="t" r="r" b="b"/>
              <a:pathLst>
                <a:path w="620649" h="875284">
                  <a:moveTo>
                    <a:pt x="0" y="0"/>
                  </a:moveTo>
                  <a:lnTo>
                    <a:pt x="620649" y="0"/>
                  </a:lnTo>
                  <a:lnTo>
                    <a:pt x="620649" y="875284"/>
                  </a:lnTo>
                  <a:lnTo>
                    <a:pt x="0" y="875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58" r="-4" b="-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647451" y="3611813"/>
            <a:ext cx="684571" cy="875252"/>
            <a:chOff x="0" y="0"/>
            <a:chExt cx="912762" cy="116700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12749" cy="1167003"/>
            </a:xfrm>
            <a:custGeom>
              <a:avLst/>
              <a:gdLst/>
              <a:ahLst/>
              <a:cxnLst/>
              <a:rect l="l" t="t" r="r" b="b"/>
              <a:pathLst>
                <a:path w="912749" h="1167003">
                  <a:moveTo>
                    <a:pt x="0" y="0"/>
                  </a:moveTo>
                  <a:lnTo>
                    <a:pt x="912749" y="0"/>
                  </a:lnTo>
                  <a:lnTo>
                    <a:pt x="912749" y="1167003"/>
                  </a:lnTo>
                  <a:lnTo>
                    <a:pt x="0" y="1167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t="-57" r="-1" b="-5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537391" y="3611813"/>
            <a:ext cx="684571" cy="875252"/>
            <a:chOff x="0" y="0"/>
            <a:chExt cx="912762" cy="116700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12749" cy="1167003"/>
            </a:xfrm>
            <a:custGeom>
              <a:avLst/>
              <a:gdLst/>
              <a:ahLst/>
              <a:cxnLst/>
              <a:rect l="l" t="t" r="r" b="b"/>
              <a:pathLst>
                <a:path w="912749" h="1167003">
                  <a:moveTo>
                    <a:pt x="0" y="0"/>
                  </a:moveTo>
                  <a:lnTo>
                    <a:pt x="912749" y="0"/>
                  </a:lnTo>
                  <a:lnTo>
                    <a:pt x="912749" y="1167003"/>
                  </a:lnTo>
                  <a:lnTo>
                    <a:pt x="0" y="1167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t="-57" r="-1" b="-5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537391" y="8206873"/>
            <a:ext cx="1355455" cy="1312878"/>
            <a:chOff x="0" y="0"/>
            <a:chExt cx="1807274" cy="175050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807337" cy="1750441"/>
            </a:xfrm>
            <a:custGeom>
              <a:avLst/>
              <a:gdLst/>
              <a:ahLst/>
              <a:cxnLst/>
              <a:rect l="l" t="t" r="r" b="b"/>
              <a:pathLst>
                <a:path w="1807337" h="1750441">
                  <a:moveTo>
                    <a:pt x="0" y="0"/>
                  </a:moveTo>
                  <a:lnTo>
                    <a:pt x="1807337" y="0"/>
                  </a:lnTo>
                  <a:lnTo>
                    <a:pt x="1807337" y="1750441"/>
                  </a:lnTo>
                  <a:lnTo>
                    <a:pt x="0" y="1750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t="-57" r="3" b="-6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756456" y="2080127"/>
            <a:ext cx="917324" cy="875252"/>
            <a:chOff x="0" y="0"/>
            <a:chExt cx="1223099" cy="116700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223137" cy="1167003"/>
            </a:xfrm>
            <a:custGeom>
              <a:avLst/>
              <a:gdLst/>
              <a:ahLst/>
              <a:cxnLst/>
              <a:rect l="l" t="t" r="r" b="b"/>
              <a:pathLst>
                <a:path w="1223137" h="1167003">
                  <a:moveTo>
                    <a:pt x="0" y="0"/>
                  </a:moveTo>
                  <a:lnTo>
                    <a:pt x="1223137" y="0"/>
                  </a:lnTo>
                  <a:lnTo>
                    <a:pt x="1223137" y="1167003"/>
                  </a:lnTo>
                  <a:lnTo>
                    <a:pt x="0" y="11670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t="-57" r="3" b="-56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582131" y="5362308"/>
            <a:ext cx="684571" cy="656434"/>
            <a:chOff x="0" y="0"/>
            <a:chExt cx="912762" cy="87524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12749" cy="875284"/>
            </a:xfrm>
            <a:custGeom>
              <a:avLst/>
              <a:gdLst/>
              <a:ahLst/>
              <a:cxnLst/>
              <a:rect l="l" t="t" r="r" b="b"/>
              <a:pathLst>
                <a:path w="912749" h="875284">
                  <a:moveTo>
                    <a:pt x="0" y="0"/>
                  </a:moveTo>
                  <a:lnTo>
                    <a:pt x="912749" y="0"/>
                  </a:lnTo>
                  <a:lnTo>
                    <a:pt x="912749" y="875284"/>
                  </a:lnTo>
                  <a:lnTo>
                    <a:pt x="0" y="875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t="-58" r="-1" b="-5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344463" y="547945"/>
            <a:ext cx="941975" cy="518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7"/>
              </a:lnSpc>
            </a:pPr>
            <a:r>
              <a:rPr lang="en-US" sz="2591" b="1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번호팅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C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38174" y="-2724102"/>
            <a:ext cx="15411355" cy="15411355"/>
          </a:xfrm>
          <a:custGeom>
            <a:avLst/>
            <a:gdLst/>
            <a:ahLst/>
            <a:cxnLst/>
            <a:rect l="l" t="t" r="r" b="b"/>
            <a:pathLst>
              <a:path w="15411355" h="15411355">
                <a:moveTo>
                  <a:pt x="0" y="0"/>
                </a:moveTo>
                <a:lnTo>
                  <a:pt x="15411355" y="0"/>
                </a:lnTo>
                <a:lnTo>
                  <a:pt x="15411355" y="15411354"/>
                </a:lnTo>
                <a:lnTo>
                  <a:pt x="0" y="154113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-3468405" y="-5936390"/>
            <a:ext cx="11395262" cy="11395262"/>
          </a:xfrm>
          <a:custGeom>
            <a:avLst/>
            <a:gdLst/>
            <a:ahLst/>
            <a:cxnLst/>
            <a:rect l="l" t="t" r="r" b="b"/>
            <a:pathLst>
              <a:path w="11395262" h="11395262">
                <a:moveTo>
                  <a:pt x="0" y="0"/>
                </a:moveTo>
                <a:lnTo>
                  <a:pt x="11395262" y="0"/>
                </a:lnTo>
                <a:lnTo>
                  <a:pt x="11395262" y="11395263"/>
                </a:lnTo>
                <a:lnTo>
                  <a:pt x="0" y="113952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-3125781" y="-5900271"/>
            <a:ext cx="10090137" cy="10090137"/>
          </a:xfrm>
          <a:custGeom>
            <a:avLst/>
            <a:gdLst/>
            <a:ahLst/>
            <a:cxnLst/>
            <a:rect l="l" t="t" r="r" b="b"/>
            <a:pathLst>
              <a:path w="10090137" h="10090137">
                <a:moveTo>
                  <a:pt x="0" y="0"/>
                </a:moveTo>
                <a:lnTo>
                  <a:pt x="10090137" y="0"/>
                </a:lnTo>
                <a:lnTo>
                  <a:pt x="10090137" y="10090138"/>
                </a:lnTo>
                <a:lnTo>
                  <a:pt x="0" y="100901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/>
          <p:nvPr/>
        </p:nvSpPr>
        <p:spPr>
          <a:xfrm>
            <a:off x="16253441" y="8252441"/>
            <a:ext cx="1005859" cy="1005859"/>
          </a:xfrm>
          <a:custGeom>
            <a:avLst/>
            <a:gdLst/>
            <a:ahLst/>
            <a:cxnLst/>
            <a:rect l="l" t="t" r="r" b="b"/>
            <a:pathLst>
              <a:path w="1005859" h="1005859">
                <a:moveTo>
                  <a:pt x="0" y="0"/>
                </a:moveTo>
                <a:lnTo>
                  <a:pt x="1005859" y="0"/>
                </a:lnTo>
                <a:lnTo>
                  <a:pt x="1005859" y="1005859"/>
                </a:lnTo>
                <a:lnTo>
                  <a:pt x="0" y="100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6" name="Freeform 6"/>
          <p:cNvSpPr/>
          <p:nvPr/>
        </p:nvSpPr>
        <p:spPr>
          <a:xfrm>
            <a:off x="-1255062" y="5604053"/>
            <a:ext cx="10399062" cy="10399062"/>
          </a:xfrm>
          <a:custGeom>
            <a:avLst/>
            <a:gdLst/>
            <a:ahLst/>
            <a:cxnLst/>
            <a:rect l="l" t="t" r="r" b="b"/>
            <a:pathLst>
              <a:path w="10399062" h="10399062">
                <a:moveTo>
                  <a:pt x="0" y="0"/>
                </a:moveTo>
                <a:lnTo>
                  <a:pt x="10399062" y="0"/>
                </a:lnTo>
                <a:lnTo>
                  <a:pt x="10399062" y="10399061"/>
                </a:lnTo>
                <a:lnTo>
                  <a:pt x="0" y="103990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524000" y="1952625"/>
            <a:ext cx="9544050" cy="1379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67"/>
              </a:lnSpc>
            </a:pPr>
            <a:r>
              <a:rPr lang="en-US" sz="761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팀 </a:t>
            </a:r>
            <a:r>
              <a:rPr lang="en-US" sz="761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카페인중독</a:t>
            </a:r>
            <a:r>
              <a:rPr lang="en-US" sz="761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761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소개</a:t>
            </a:r>
            <a:endParaRPr lang="en-US" sz="761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4000" y="4895850"/>
            <a:ext cx="11115675" cy="51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63"/>
              </a:lnSpc>
            </a:pPr>
            <a:r>
              <a:rPr lang="en-US" sz="3260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"/>
                <a:sym typeface="Poppins"/>
              </a:rPr>
              <a:t>팀 </a:t>
            </a:r>
            <a:r>
              <a:rPr lang="en-US" sz="3260" dirty="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"/>
                <a:sym typeface="Poppins"/>
              </a:rPr>
              <a:t>카페인중독</a:t>
            </a:r>
            <a:r>
              <a:rPr lang="en-US" sz="3260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"/>
                <a:sym typeface="Poppins"/>
              </a:rPr>
              <a:t> - 3인 팀 </a:t>
            </a:r>
            <a:r>
              <a:rPr lang="en-US" sz="3260" dirty="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"/>
                <a:sym typeface="Poppins"/>
              </a:rPr>
              <a:t>프로젝트</a:t>
            </a:r>
            <a:endParaRPr lang="en-US" sz="3260" dirty="0">
              <a:solidFill>
                <a:srgbClr val="FFFF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24000" y="6800850"/>
            <a:ext cx="3686175" cy="40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 dirty="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 Bold"/>
                <a:sym typeface="Poppins Bold"/>
              </a:rPr>
              <a:t>강태철</a:t>
            </a:r>
            <a:r>
              <a:rPr lang="en-US" sz="255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 Bold"/>
                <a:sym typeface="Poppins Bold"/>
              </a:rPr>
              <a:t> (Front-End)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4000" y="7486650"/>
            <a:ext cx="3686175" cy="626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63"/>
              </a:lnSpc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UI/UX </a:t>
            </a:r>
            <a:r>
              <a:rPr lang="en-US" sz="2000" dirty="0" err="1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디자인</a:t>
            </a: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로그인</a:t>
            </a: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/</a:t>
            </a:r>
            <a:r>
              <a:rPr lang="en-US" sz="2000" dirty="0" err="1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프로필</a:t>
            </a: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/</a:t>
            </a:r>
            <a:r>
              <a:rPr lang="en-US" sz="2000" dirty="0" err="1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채팅</a:t>
            </a: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/</a:t>
            </a:r>
            <a:r>
              <a:rPr lang="en-US" sz="2000" dirty="0" err="1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랜덤매칭</a:t>
            </a: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화면</a:t>
            </a: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  <a:sym typeface="Poppins"/>
              </a:rPr>
              <a:t>제작</a:t>
            </a:r>
            <a:endParaRPr lang="en-US" sz="2000" dirty="0">
              <a:solidFill>
                <a:srgbClr val="FFFFFF"/>
              </a:solidFill>
              <a:latin typeface="Poppins" panose="00000500000000000000" pitchFamily="2" charset="0"/>
              <a:ea typeface="+mj-ea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296025" y="6800850"/>
            <a:ext cx="4143375" cy="401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 Bold"/>
                <a:sym typeface="Poppins Bold"/>
              </a:rPr>
              <a:t>박건욱 (Back-End, 팀</a:t>
            </a:r>
            <a:r>
              <a:rPr lang="ko-KR" altLang="en-US" sz="255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 Bold"/>
                <a:sym typeface="Poppins Bold"/>
              </a:rPr>
              <a:t>장</a:t>
            </a:r>
            <a:r>
              <a:rPr lang="en-US" sz="255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 Bold"/>
                <a:sym typeface="Poppins Bold"/>
              </a:rPr>
              <a:t>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96025" y="7369051"/>
            <a:ext cx="3686175" cy="947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63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Kakao Login API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연동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사용자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데이터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처리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이메일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인증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.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전체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프로젝트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관리</a:t>
            </a:r>
            <a:endParaRPr lang="en-US" sz="2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068050" y="6819900"/>
            <a:ext cx="3686175" cy="40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 dirty="0" err="1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 Bold"/>
                <a:sym typeface="Poppins Bold"/>
              </a:rPr>
              <a:t>이동희</a:t>
            </a:r>
            <a:r>
              <a:rPr lang="en-US" sz="2550" b="1" dirty="0">
                <a:solidFill>
                  <a:srgbClr val="FFFFFF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oppins Bold"/>
                <a:sym typeface="Poppins Bold"/>
              </a:rPr>
              <a:t> (Back-End)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68050" y="7505700"/>
            <a:ext cx="3067050" cy="947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63"/>
              </a:lnSpc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Socket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기반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실시간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채팅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구현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랜덤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매칭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기능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채팅방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처리</a:t>
            </a:r>
            <a:endParaRPr lang="en-US" sz="2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-440836" y="574681"/>
            <a:ext cx="4385300" cy="879824"/>
          </a:xfrm>
          <a:custGeom>
            <a:avLst/>
            <a:gdLst/>
            <a:ahLst/>
            <a:cxnLst/>
            <a:rect l="l" t="t" r="r" b="b"/>
            <a:pathLst>
              <a:path w="4385300" h="879824">
                <a:moveTo>
                  <a:pt x="0" y="0"/>
                </a:moveTo>
                <a:lnTo>
                  <a:pt x="4385300" y="0"/>
                </a:lnTo>
                <a:lnTo>
                  <a:pt x="4385300" y="879825"/>
                </a:lnTo>
                <a:lnTo>
                  <a:pt x="0" y="879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352425" y="714375"/>
            <a:ext cx="3324225" cy="533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1"/>
              </a:lnSpc>
            </a:pPr>
            <a:r>
              <a:rPr lang="en-US" sz="2629" b="1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번호팅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90574" y="643909"/>
            <a:ext cx="1589189" cy="37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sz="19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기술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34327" y="665874"/>
            <a:ext cx="2224973" cy="37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86"/>
              </a:lnSpc>
            </a:pPr>
            <a:r>
              <a:rPr lang="en-US" sz="1918" b="1">
                <a:solidFill>
                  <a:srgbClr val="FFFFFF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팀 소개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0" y="665874"/>
            <a:ext cx="1662551" cy="37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86"/>
              </a:lnSpc>
            </a:pPr>
            <a:r>
              <a:rPr lang="en-US" sz="1918" b="1">
                <a:solidFill>
                  <a:srgbClr val="FFFFFF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홈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09451" y="665874"/>
            <a:ext cx="1907086" cy="37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sz="1918" b="1">
                <a:solidFill>
                  <a:srgbClr val="FFFFFF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소개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0" r="-39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55953" y="8131435"/>
            <a:ext cx="1245603" cy="1247727"/>
            <a:chOff x="0" y="0"/>
            <a:chExt cx="1660804" cy="1663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0779" cy="1663700"/>
            </a:xfrm>
            <a:custGeom>
              <a:avLst/>
              <a:gdLst/>
              <a:ahLst/>
              <a:cxnLst/>
              <a:rect l="l" t="t" r="r" b="b"/>
              <a:pathLst>
                <a:path w="1660779" h="1663700">
                  <a:moveTo>
                    <a:pt x="0" y="0"/>
                  </a:moveTo>
                  <a:lnTo>
                    <a:pt x="1660779" y="0"/>
                  </a:lnTo>
                  <a:lnTo>
                    <a:pt x="1660779" y="1663700"/>
                  </a:lnTo>
                  <a:lnTo>
                    <a:pt x="0" y="166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7" r="-1" b="-1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311158" y="-2289153"/>
            <a:ext cx="13467550" cy="17020604"/>
            <a:chOff x="0" y="0"/>
            <a:chExt cx="17956733" cy="226941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6785" cy="22694137"/>
            </a:xfrm>
            <a:custGeom>
              <a:avLst/>
              <a:gdLst/>
              <a:ahLst/>
              <a:cxnLst/>
              <a:rect l="l" t="t" r="r" b="b"/>
              <a:pathLst>
                <a:path w="17956785" h="22694137">
                  <a:moveTo>
                    <a:pt x="0" y="0"/>
                  </a:moveTo>
                  <a:lnTo>
                    <a:pt x="17956785" y="0"/>
                  </a:lnTo>
                  <a:lnTo>
                    <a:pt x="17956785" y="22694137"/>
                  </a:lnTo>
                  <a:lnTo>
                    <a:pt x="0" y="2269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0999"/>
              </a:blip>
              <a:stretch>
                <a:fillRect l="-58" r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0995365" y="-5584831"/>
            <a:ext cx="12527861" cy="12527861"/>
          </a:xfrm>
          <a:custGeom>
            <a:avLst/>
            <a:gdLst/>
            <a:ahLst/>
            <a:cxnLst/>
            <a:rect l="l" t="t" r="r" b="b"/>
            <a:pathLst>
              <a:path w="12527861" h="12527861">
                <a:moveTo>
                  <a:pt x="0" y="0"/>
                </a:moveTo>
                <a:lnTo>
                  <a:pt x="12527861" y="0"/>
                </a:lnTo>
                <a:lnTo>
                  <a:pt x="12527861" y="12527861"/>
                </a:lnTo>
                <a:lnTo>
                  <a:pt x="0" y="12527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2702892" y="-3877304"/>
            <a:ext cx="9112806" cy="9112806"/>
          </a:xfrm>
          <a:custGeom>
            <a:avLst/>
            <a:gdLst/>
            <a:ahLst/>
            <a:cxnLst/>
            <a:rect l="l" t="t" r="r" b="b"/>
            <a:pathLst>
              <a:path w="9112806" h="9112806">
                <a:moveTo>
                  <a:pt x="0" y="0"/>
                </a:moveTo>
                <a:lnTo>
                  <a:pt x="9112806" y="0"/>
                </a:lnTo>
                <a:lnTo>
                  <a:pt x="9112806" y="9112806"/>
                </a:lnTo>
                <a:lnTo>
                  <a:pt x="0" y="9112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85925" y="1809750"/>
            <a:ext cx="10182225" cy="213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2"/>
              </a:lnSpc>
            </a:pPr>
            <a:r>
              <a:rPr lang="en-US" sz="10294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기술 스택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925" y="3714750"/>
            <a:ext cx="6248400" cy="7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7"/>
              </a:lnSpc>
            </a:pPr>
            <a:r>
              <a:rPr lang="en-US" sz="349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Tech Stack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5925" y="4619625"/>
            <a:ext cx="8493122" cy="2086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4"/>
              </a:lnSpc>
            </a:pPr>
            <a:r>
              <a:rPr lang="en-US" sz="2995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Front-End</a:t>
            </a:r>
          </a:p>
          <a:p>
            <a:pPr algn="just">
              <a:lnSpc>
                <a:spcPts val="4194"/>
              </a:lnSpc>
            </a:pPr>
            <a:endParaRPr lang="en-US" sz="2995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194"/>
              </a:lnSpc>
            </a:pPr>
            <a:r>
              <a:rPr lang="en-US" sz="2995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Flutter - 모바일 앱 개발</a:t>
            </a:r>
          </a:p>
          <a:p>
            <a:pPr algn="just">
              <a:lnSpc>
                <a:spcPts val="4194"/>
              </a:lnSpc>
            </a:pPr>
            <a:r>
              <a:rPr lang="en-US" sz="2995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Dart - Flutter 개발 언어</a:t>
            </a:r>
          </a:p>
        </p:txBody>
      </p:sp>
      <p:sp>
        <p:nvSpPr>
          <p:cNvPr id="11" name="Freeform 11"/>
          <p:cNvSpPr/>
          <p:nvPr/>
        </p:nvSpPr>
        <p:spPr>
          <a:xfrm>
            <a:off x="-440836" y="574681"/>
            <a:ext cx="4385300" cy="879824"/>
          </a:xfrm>
          <a:custGeom>
            <a:avLst/>
            <a:gdLst/>
            <a:ahLst/>
            <a:cxnLst/>
            <a:rect l="l" t="t" r="r" b="b"/>
            <a:pathLst>
              <a:path w="4385300" h="879824">
                <a:moveTo>
                  <a:pt x="0" y="0"/>
                </a:moveTo>
                <a:lnTo>
                  <a:pt x="4385300" y="0"/>
                </a:lnTo>
                <a:lnTo>
                  <a:pt x="4385300" y="879825"/>
                </a:lnTo>
                <a:lnTo>
                  <a:pt x="0" y="879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52425" y="714375"/>
            <a:ext cx="3324225" cy="53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6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번호팅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87450" y="628650"/>
            <a:ext cx="1590675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기술 스택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30450" y="647700"/>
            <a:ext cx="222885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구조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646824"/>
            <a:ext cx="1662551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09451" y="646824"/>
            <a:ext cx="190708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소개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93103" y="4610100"/>
            <a:ext cx="10019579" cy="391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2"/>
              </a:lnSpc>
            </a:pPr>
            <a:r>
              <a:rPr lang="en-US" sz="280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Back-End</a:t>
            </a:r>
          </a:p>
          <a:p>
            <a:pPr algn="just">
              <a:lnSpc>
                <a:spcPts val="3922"/>
              </a:lnSpc>
            </a:pPr>
            <a:endParaRPr lang="en-US" sz="2801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922"/>
              </a:lnSpc>
            </a:pPr>
            <a:r>
              <a:rPr lang="en-US" sz="280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Socket - 실시간 채팅 통신</a:t>
            </a:r>
          </a:p>
          <a:p>
            <a:pPr algn="just">
              <a:lnSpc>
                <a:spcPts val="3922"/>
              </a:lnSpc>
            </a:pPr>
            <a:r>
              <a:rPr lang="en-US" sz="280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Kakao Login API - 카카오 로그인</a:t>
            </a:r>
          </a:p>
          <a:p>
            <a:pPr algn="just">
              <a:lnSpc>
                <a:spcPts val="3922"/>
              </a:lnSpc>
            </a:pPr>
            <a:r>
              <a:rPr lang="en-US" sz="280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mailer - 학교 이메일 인증</a:t>
            </a:r>
          </a:p>
          <a:p>
            <a:pPr algn="just">
              <a:lnSpc>
                <a:spcPts val="3922"/>
              </a:lnSpc>
            </a:pPr>
            <a:r>
              <a:rPr lang="en-US" sz="280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web_socket_channel - 웹소켓 통신</a:t>
            </a:r>
          </a:p>
          <a:p>
            <a:pPr algn="just">
              <a:lnSpc>
                <a:spcPts val="3922"/>
              </a:lnSpc>
            </a:pPr>
            <a:r>
              <a:rPr lang="en-US" sz="280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kakao_flutter_sdk - 카카오 SDK</a:t>
            </a:r>
          </a:p>
          <a:p>
            <a:pPr algn="just">
              <a:lnSpc>
                <a:spcPts val="3922"/>
              </a:lnSpc>
            </a:pPr>
            <a:r>
              <a:rPr lang="en-US" sz="280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flutter_dotenv - 환경 변수 관리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55953" y="8131435"/>
            <a:ext cx="1245603" cy="1247727"/>
            <a:chOff x="0" y="0"/>
            <a:chExt cx="1660804" cy="1663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0779" cy="1663700"/>
            </a:xfrm>
            <a:custGeom>
              <a:avLst/>
              <a:gdLst/>
              <a:ahLst/>
              <a:cxnLst/>
              <a:rect l="l" t="t" r="r" b="b"/>
              <a:pathLst>
                <a:path w="1660779" h="1663700">
                  <a:moveTo>
                    <a:pt x="0" y="0"/>
                  </a:moveTo>
                  <a:lnTo>
                    <a:pt x="1660779" y="0"/>
                  </a:lnTo>
                  <a:lnTo>
                    <a:pt x="1660779" y="1663700"/>
                  </a:lnTo>
                  <a:lnTo>
                    <a:pt x="0" y="166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7" r="-1" b="-1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311158" y="-2289153"/>
            <a:ext cx="13467550" cy="17020604"/>
            <a:chOff x="0" y="0"/>
            <a:chExt cx="17956733" cy="226941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6785" cy="22694137"/>
            </a:xfrm>
            <a:custGeom>
              <a:avLst/>
              <a:gdLst/>
              <a:ahLst/>
              <a:cxnLst/>
              <a:rect l="l" t="t" r="r" b="b"/>
              <a:pathLst>
                <a:path w="17956785" h="22694137">
                  <a:moveTo>
                    <a:pt x="0" y="0"/>
                  </a:moveTo>
                  <a:lnTo>
                    <a:pt x="17956785" y="0"/>
                  </a:lnTo>
                  <a:lnTo>
                    <a:pt x="17956785" y="22694137"/>
                  </a:lnTo>
                  <a:lnTo>
                    <a:pt x="0" y="2269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0999"/>
              </a:blip>
              <a:stretch>
                <a:fillRect l="-58" r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0995365" y="-5584831"/>
            <a:ext cx="12527861" cy="12527861"/>
          </a:xfrm>
          <a:custGeom>
            <a:avLst/>
            <a:gdLst/>
            <a:ahLst/>
            <a:cxnLst/>
            <a:rect l="l" t="t" r="r" b="b"/>
            <a:pathLst>
              <a:path w="12527861" h="12527861">
                <a:moveTo>
                  <a:pt x="0" y="0"/>
                </a:moveTo>
                <a:lnTo>
                  <a:pt x="12527861" y="0"/>
                </a:lnTo>
                <a:lnTo>
                  <a:pt x="12527861" y="12527861"/>
                </a:lnTo>
                <a:lnTo>
                  <a:pt x="0" y="12527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2702892" y="-3877304"/>
            <a:ext cx="9112806" cy="9112806"/>
          </a:xfrm>
          <a:custGeom>
            <a:avLst/>
            <a:gdLst/>
            <a:ahLst/>
            <a:cxnLst/>
            <a:rect l="l" t="t" r="r" b="b"/>
            <a:pathLst>
              <a:path w="9112806" h="9112806">
                <a:moveTo>
                  <a:pt x="0" y="0"/>
                </a:moveTo>
                <a:lnTo>
                  <a:pt x="9112806" y="0"/>
                </a:lnTo>
                <a:lnTo>
                  <a:pt x="9112806" y="9112806"/>
                </a:lnTo>
                <a:lnTo>
                  <a:pt x="0" y="9112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85925" y="1809750"/>
            <a:ext cx="10182225" cy="213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2"/>
              </a:lnSpc>
            </a:pPr>
            <a:r>
              <a:rPr lang="en-US" sz="10294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프로젝트 구조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925" y="3695700"/>
            <a:ext cx="6248400" cy="72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8"/>
              </a:lnSpc>
            </a:pPr>
            <a:r>
              <a:rPr lang="en-US" sz="3384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Project Structure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4975" y="4657725"/>
            <a:ext cx="6958605" cy="517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0"/>
              </a:lnSpc>
              <a:spcBef>
                <a:spcPct val="0"/>
              </a:spcBef>
            </a:pPr>
            <a:r>
              <a:rPr lang="en-US" sz="1899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root/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├─lib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  ├─backend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  │  ├─client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  │  ├─config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  │  ├─login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  │  ├─mail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  │  ├─server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  │  └─</a:t>
            </a:r>
            <a:r>
              <a:rPr lang="en-US" sz="1899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user_data</a:t>
            </a:r>
            <a:endParaRPr lang="en-US" sz="1899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  └─front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      ├─models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      └─screens</a:t>
            </a:r>
            <a:r>
              <a:rPr lang="en-US" sz="1899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altLang="ko-KR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│</a:t>
            </a:r>
            <a:r>
              <a:rPr lang="en-US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altLang="ko-KR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└─ </a:t>
            </a:r>
            <a:r>
              <a:rPr lang="en-US" sz="1899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main_navigation.dart</a:t>
            </a:r>
            <a:endParaRPr lang="en-US" sz="1899" u="none" strike="noStrike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algn="just">
              <a:lnSpc>
                <a:spcPts val="2660"/>
              </a:lnSpc>
              <a:spcBef>
                <a:spcPct val="0"/>
              </a:spcBef>
            </a:pPr>
            <a:r>
              <a:rPr lang="en-US" sz="1899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altLang="ko-KR" sz="1899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└─ </a:t>
            </a:r>
            <a:r>
              <a:rPr lang="en-US" sz="1899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main.dart</a:t>
            </a:r>
            <a:endParaRPr lang="en-US" sz="1899" u="none" strike="noStrike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660"/>
              </a:lnSpc>
              <a:spcBef>
                <a:spcPct val="0"/>
              </a:spcBef>
            </a:pPr>
            <a:r>
              <a:rPr lang="en-US" sz="1899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</a:p>
        </p:txBody>
      </p:sp>
      <p:sp>
        <p:nvSpPr>
          <p:cNvPr id="11" name="Freeform 11"/>
          <p:cNvSpPr/>
          <p:nvPr/>
        </p:nvSpPr>
        <p:spPr>
          <a:xfrm>
            <a:off x="-440836" y="574681"/>
            <a:ext cx="4385300" cy="879824"/>
          </a:xfrm>
          <a:custGeom>
            <a:avLst/>
            <a:gdLst/>
            <a:ahLst/>
            <a:cxnLst/>
            <a:rect l="l" t="t" r="r" b="b"/>
            <a:pathLst>
              <a:path w="4385300" h="879824">
                <a:moveTo>
                  <a:pt x="0" y="0"/>
                </a:moveTo>
                <a:lnTo>
                  <a:pt x="4385300" y="0"/>
                </a:lnTo>
                <a:lnTo>
                  <a:pt x="4385300" y="879825"/>
                </a:lnTo>
                <a:lnTo>
                  <a:pt x="0" y="879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52425" y="714375"/>
            <a:ext cx="3324225" cy="53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6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번호팅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87450" y="628650"/>
            <a:ext cx="1590675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구조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30450" y="647700"/>
            <a:ext cx="222885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감사합니다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646824"/>
            <a:ext cx="1662551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09451" y="646824"/>
            <a:ext cx="190708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소개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48750" y="4638675"/>
            <a:ext cx="8710593" cy="4010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폴더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설명</a:t>
            </a:r>
            <a:endParaRPr lang="en-US" sz="2513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endParaRPr lang="en-US" sz="2513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backend/config - .env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파일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처리</a:t>
            </a:r>
            <a:endParaRPr lang="en-US" sz="2513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backend/login -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카카오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로그인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처리</a:t>
            </a:r>
            <a:endParaRPr lang="en-US" sz="2513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backend/mail -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학교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이메일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인증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처리</a:t>
            </a:r>
            <a:endParaRPr lang="en-US" sz="2513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r>
              <a:rPr lang="en-US" sz="2513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/client 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실시간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채팅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소켓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처리</a:t>
            </a:r>
            <a:endParaRPr lang="en-US" sz="2513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backend/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user_data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사용자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데이터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관리</a:t>
            </a:r>
            <a:endParaRPr lang="en-US" sz="2513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front/models -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사용자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모델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관리</a:t>
            </a:r>
            <a:endParaRPr lang="en-US" sz="2513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519"/>
              </a:lnSpc>
            </a:pP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front/screens - 앱 UI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화면</a:t>
            </a:r>
            <a:r>
              <a:rPr lang="en-US" sz="2513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513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구성</a:t>
            </a:r>
            <a:endParaRPr lang="en-US" sz="2513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55953" y="8131435"/>
            <a:ext cx="1245603" cy="1247727"/>
            <a:chOff x="0" y="0"/>
            <a:chExt cx="1660804" cy="1663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0779" cy="1663700"/>
            </a:xfrm>
            <a:custGeom>
              <a:avLst/>
              <a:gdLst/>
              <a:ahLst/>
              <a:cxnLst/>
              <a:rect l="l" t="t" r="r" b="b"/>
              <a:pathLst>
                <a:path w="1660779" h="1663700">
                  <a:moveTo>
                    <a:pt x="0" y="0"/>
                  </a:moveTo>
                  <a:lnTo>
                    <a:pt x="1660779" y="0"/>
                  </a:lnTo>
                  <a:lnTo>
                    <a:pt x="1660779" y="1663700"/>
                  </a:lnTo>
                  <a:lnTo>
                    <a:pt x="0" y="166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7" r="-1" b="-1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311158" y="-2289153"/>
            <a:ext cx="13467550" cy="17020604"/>
            <a:chOff x="0" y="0"/>
            <a:chExt cx="17956733" cy="226941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6785" cy="22694137"/>
            </a:xfrm>
            <a:custGeom>
              <a:avLst/>
              <a:gdLst/>
              <a:ahLst/>
              <a:cxnLst/>
              <a:rect l="l" t="t" r="r" b="b"/>
              <a:pathLst>
                <a:path w="17956785" h="22694137">
                  <a:moveTo>
                    <a:pt x="0" y="0"/>
                  </a:moveTo>
                  <a:lnTo>
                    <a:pt x="17956785" y="0"/>
                  </a:lnTo>
                  <a:lnTo>
                    <a:pt x="17956785" y="22694137"/>
                  </a:lnTo>
                  <a:lnTo>
                    <a:pt x="0" y="2269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0999"/>
              </a:blip>
              <a:stretch>
                <a:fillRect l="-58" r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0995365" y="-5584831"/>
            <a:ext cx="12527861" cy="12527861"/>
          </a:xfrm>
          <a:custGeom>
            <a:avLst/>
            <a:gdLst/>
            <a:ahLst/>
            <a:cxnLst/>
            <a:rect l="l" t="t" r="r" b="b"/>
            <a:pathLst>
              <a:path w="12527861" h="12527861">
                <a:moveTo>
                  <a:pt x="0" y="0"/>
                </a:moveTo>
                <a:lnTo>
                  <a:pt x="12527861" y="0"/>
                </a:lnTo>
                <a:lnTo>
                  <a:pt x="12527861" y="12527861"/>
                </a:lnTo>
                <a:lnTo>
                  <a:pt x="0" y="12527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2702892" y="-3877304"/>
            <a:ext cx="9112806" cy="9112806"/>
          </a:xfrm>
          <a:custGeom>
            <a:avLst/>
            <a:gdLst/>
            <a:ahLst/>
            <a:cxnLst/>
            <a:rect l="l" t="t" r="r" b="b"/>
            <a:pathLst>
              <a:path w="9112806" h="9112806">
                <a:moveTo>
                  <a:pt x="0" y="0"/>
                </a:moveTo>
                <a:lnTo>
                  <a:pt x="9112806" y="0"/>
                </a:lnTo>
                <a:lnTo>
                  <a:pt x="9112806" y="9112806"/>
                </a:lnTo>
                <a:lnTo>
                  <a:pt x="0" y="9112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85925" y="1771650"/>
            <a:ext cx="10182225" cy="196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371"/>
              </a:lnSpc>
              <a:spcBef>
                <a:spcPct val="0"/>
              </a:spcBef>
            </a:pPr>
            <a:r>
              <a:rPr lang="en-US" sz="10980" b="1" u="none" strike="noStrik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협업 프로세스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925" y="3752850"/>
            <a:ext cx="6248400" cy="61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32"/>
              </a:lnSpc>
              <a:spcBef>
                <a:spcPct val="0"/>
              </a:spcBef>
            </a:pPr>
            <a:r>
              <a:rPr lang="en-US" sz="3380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Collaboration Process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3637" y="4486275"/>
            <a:ext cx="11229255" cy="619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3"/>
              </a:lnSpc>
            </a:pPr>
            <a:r>
              <a:rPr lang="en-US" sz="2795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 </a:t>
            </a:r>
            <a:r>
              <a:rPr lang="en-US" sz="2795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개발</a:t>
            </a:r>
            <a:r>
              <a:rPr lang="en-US" sz="2795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95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방식</a:t>
            </a:r>
            <a:endParaRPr lang="en-US" sz="2795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algn="just">
              <a:lnSpc>
                <a:spcPts val="3773"/>
              </a:lnSpc>
            </a:pPr>
            <a:r>
              <a:rPr lang="en-US" sz="2695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 </a:t>
            </a:r>
            <a:r>
              <a:rPr lang="en-US" sz="2695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경량</a:t>
            </a:r>
            <a:r>
              <a:rPr lang="en-US" sz="2695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Agile </a:t>
            </a:r>
            <a:r>
              <a:rPr lang="en-US" sz="2695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협업</a:t>
            </a:r>
            <a:r>
              <a:rPr lang="en-US" sz="2695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방식</a:t>
            </a:r>
            <a:endParaRPr lang="en-US" sz="2695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1882" lvl="1" indent="-290941" algn="just">
              <a:lnSpc>
                <a:spcPts val="3773"/>
              </a:lnSpc>
              <a:spcBef>
                <a:spcPct val="0"/>
              </a:spcBef>
              <a:buFont typeface="Arial"/>
              <a:buChar char="•"/>
            </a:pP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3인 팀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프로젝트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진행</a:t>
            </a:r>
            <a:endParaRPr lang="en-US" sz="2695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1882" lvl="1" indent="-290941" algn="just">
              <a:lnSpc>
                <a:spcPts val="3773"/>
              </a:lnSpc>
              <a:spcBef>
                <a:spcPct val="0"/>
              </a:spcBef>
              <a:buFont typeface="Arial"/>
              <a:buChar char="•"/>
            </a:pP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매주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목요일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정기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회의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진행</a:t>
            </a:r>
            <a:endParaRPr lang="en-US" sz="2695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1882" lvl="1" indent="-290941" algn="just">
              <a:lnSpc>
                <a:spcPts val="3773"/>
              </a:lnSpc>
              <a:spcBef>
                <a:spcPct val="0"/>
              </a:spcBef>
              <a:buFont typeface="Arial"/>
              <a:buChar char="•"/>
            </a:pP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약 20분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단위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Sprint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회의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운영</a:t>
            </a:r>
            <a:endParaRPr lang="en-US" sz="2695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1882" lvl="1" indent="-290941" algn="just">
              <a:lnSpc>
                <a:spcPts val="3773"/>
              </a:lnSpc>
              <a:spcBef>
                <a:spcPct val="0"/>
              </a:spcBef>
              <a:buFont typeface="Arial"/>
              <a:buChar char="•"/>
            </a:pP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기능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개발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현황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및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이슈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공유</a:t>
            </a:r>
            <a:endParaRPr lang="en-US" sz="2695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algn="just">
              <a:lnSpc>
                <a:spcPts val="3774"/>
              </a:lnSpc>
              <a:spcBef>
                <a:spcPct val="0"/>
              </a:spcBef>
            </a:pPr>
            <a:endParaRPr lang="en-US" sz="2695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0" lvl="0" indent="0" algn="just">
              <a:lnSpc>
                <a:spcPts val="3774"/>
              </a:lnSpc>
              <a:spcBef>
                <a:spcPct val="0"/>
              </a:spcBef>
            </a:pPr>
            <a:r>
              <a:rPr lang="en-US" sz="2695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문제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해결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과정</a:t>
            </a:r>
            <a:endParaRPr lang="en-US" sz="2695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1882" lvl="1" indent="-290941" algn="just">
              <a:lnSpc>
                <a:spcPts val="3773"/>
              </a:lnSpc>
              <a:spcBef>
                <a:spcPct val="0"/>
              </a:spcBef>
              <a:buFont typeface="Arial"/>
              <a:buChar char="•"/>
            </a:pP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이슈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발생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시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실시간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공유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(KakaoTalk)</a:t>
            </a:r>
          </a:p>
          <a:p>
            <a:pPr marL="581882" lvl="1" indent="-290941" algn="just">
              <a:lnSpc>
                <a:spcPts val="3774"/>
              </a:lnSpc>
              <a:spcBef>
                <a:spcPct val="0"/>
              </a:spcBef>
              <a:buFont typeface="Arial"/>
              <a:buChar char="•"/>
            </a:pP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주간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회의를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통한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해결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방안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논의</a:t>
            </a:r>
            <a:endParaRPr lang="en-US" sz="2695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1882" lvl="1" indent="-290941" algn="just">
              <a:lnSpc>
                <a:spcPts val="3773"/>
              </a:lnSpc>
              <a:spcBef>
                <a:spcPct val="0"/>
              </a:spcBef>
              <a:buFont typeface="Arial"/>
              <a:buChar char="•"/>
            </a:pP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담당자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지정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후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다음</a:t>
            </a:r>
            <a:r>
              <a:rPr lang="en-US" sz="2695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Sprint </a:t>
            </a:r>
            <a:r>
              <a:rPr lang="en-US" sz="2695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반영</a:t>
            </a:r>
            <a:endParaRPr lang="en-US" sz="2695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algn="just">
              <a:lnSpc>
                <a:spcPts val="3214"/>
              </a:lnSpc>
              <a:spcBef>
                <a:spcPct val="0"/>
              </a:spcBef>
            </a:pPr>
            <a:endParaRPr lang="en-US" sz="2695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0" lvl="0" indent="0" algn="just">
              <a:lnSpc>
                <a:spcPts val="3214"/>
              </a:lnSpc>
              <a:spcBef>
                <a:spcPct val="0"/>
              </a:spcBef>
            </a:pPr>
            <a:endParaRPr lang="en-US" sz="2695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-440836" y="574681"/>
            <a:ext cx="4385300" cy="879824"/>
          </a:xfrm>
          <a:custGeom>
            <a:avLst/>
            <a:gdLst/>
            <a:ahLst/>
            <a:cxnLst/>
            <a:rect l="l" t="t" r="r" b="b"/>
            <a:pathLst>
              <a:path w="4385300" h="879824">
                <a:moveTo>
                  <a:pt x="0" y="0"/>
                </a:moveTo>
                <a:lnTo>
                  <a:pt x="4385300" y="0"/>
                </a:lnTo>
                <a:lnTo>
                  <a:pt x="4385300" y="879825"/>
                </a:lnTo>
                <a:lnTo>
                  <a:pt x="0" y="879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52425" y="714375"/>
            <a:ext cx="3324225" cy="53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6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번호팅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87450" y="628650"/>
            <a:ext cx="1590675" cy="35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협업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30450" y="647700"/>
            <a:ext cx="222885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감사합니다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646824"/>
            <a:ext cx="1662551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09451" y="646824"/>
            <a:ext cx="190708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소개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56392" y="4519933"/>
            <a:ext cx="8405737" cy="484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80"/>
              </a:lnSpc>
              <a:spcBef>
                <a:spcPct val="0"/>
              </a:spcBef>
            </a:pP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진행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상황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공유</a:t>
            </a:r>
            <a:endParaRPr lang="en-US" sz="2700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2930" lvl="1" indent="-291465" algn="just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카카오톡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,</a:t>
            </a:r>
            <a:r>
              <a:rPr lang="ko-KR" alt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깃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허브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기반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작업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현황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관리</a:t>
            </a:r>
            <a:endParaRPr lang="en-US" sz="2700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2930" lvl="1" indent="-291465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주간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진행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보고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및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피드백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진행</a:t>
            </a:r>
            <a:endParaRPr lang="en-US" sz="2700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2930" lvl="1" indent="-291465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기능별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완료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기준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명확화</a:t>
            </a:r>
            <a:endParaRPr lang="en-US" sz="2700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algn="just">
              <a:lnSpc>
                <a:spcPts val="3780"/>
              </a:lnSpc>
              <a:spcBef>
                <a:spcPct val="0"/>
              </a:spcBef>
            </a:pPr>
            <a:endParaRPr lang="en-US" sz="2700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0" lvl="0" indent="0" algn="just">
              <a:lnSpc>
                <a:spcPts val="3780"/>
              </a:lnSpc>
              <a:spcBef>
                <a:spcPct val="0"/>
              </a:spcBef>
            </a:pP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개발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타임라인</a:t>
            </a:r>
            <a:endParaRPr lang="en-US" sz="2700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2930" lvl="1" indent="-291465" algn="just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4월 —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기획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및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역할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분담</a:t>
            </a:r>
            <a:endParaRPr lang="en-US" sz="2700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2930" lvl="1" indent="-291465" algn="just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5월 —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기능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개발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및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통합</a:t>
            </a:r>
            <a:endParaRPr lang="en-US" sz="2700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582930" lvl="1" indent="-291465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6월 —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테스트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및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발표</a:t>
            </a:r>
            <a:r>
              <a:rPr lang="en-US" sz="2700" u="none" strike="noStrike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700" u="none" strike="noStrike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준비</a:t>
            </a:r>
            <a:endParaRPr lang="en-US" sz="2700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marL="0" lvl="0" indent="0" algn="just">
              <a:lnSpc>
                <a:spcPts val="3780"/>
              </a:lnSpc>
              <a:spcBef>
                <a:spcPct val="0"/>
              </a:spcBef>
            </a:pPr>
            <a:endParaRPr lang="en-US" sz="2700" u="none" strike="noStrike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63125" y="10001250"/>
            <a:ext cx="1428750" cy="22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테스트/마무리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34375" y="10001250"/>
            <a:ext cx="762000" cy="22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개발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05625" y="10001250"/>
            <a:ext cx="762000" cy="22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기획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155953" y="8131435"/>
            <a:ext cx="1245603" cy="1247727"/>
            <a:chOff x="0" y="0"/>
            <a:chExt cx="1660804" cy="16636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60779" cy="1663700"/>
            </a:xfrm>
            <a:custGeom>
              <a:avLst/>
              <a:gdLst/>
              <a:ahLst/>
              <a:cxnLst/>
              <a:rect l="l" t="t" r="r" b="b"/>
              <a:pathLst>
                <a:path w="1660779" h="1663700">
                  <a:moveTo>
                    <a:pt x="0" y="0"/>
                  </a:moveTo>
                  <a:lnTo>
                    <a:pt x="1660779" y="0"/>
                  </a:lnTo>
                  <a:lnTo>
                    <a:pt x="1660779" y="1663700"/>
                  </a:lnTo>
                  <a:lnTo>
                    <a:pt x="0" y="166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7" r="-1" b="-1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353922" y="-2239070"/>
            <a:ext cx="13467589" cy="17020603"/>
            <a:chOff x="0" y="0"/>
            <a:chExt cx="17956785" cy="226941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56785" cy="22694137"/>
            </a:xfrm>
            <a:custGeom>
              <a:avLst/>
              <a:gdLst/>
              <a:ahLst/>
              <a:cxnLst/>
              <a:rect l="l" t="t" r="r" b="b"/>
              <a:pathLst>
                <a:path w="17956785" h="22694137">
                  <a:moveTo>
                    <a:pt x="0" y="0"/>
                  </a:moveTo>
                  <a:lnTo>
                    <a:pt x="17956785" y="0"/>
                  </a:lnTo>
                  <a:lnTo>
                    <a:pt x="17956785" y="22694137"/>
                  </a:lnTo>
                  <a:lnTo>
                    <a:pt x="0" y="2269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0999"/>
              </a:blip>
              <a:stretch>
                <a:fillRect l="-58" r="-57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10995365" y="-5584831"/>
            <a:ext cx="12527861" cy="12527861"/>
          </a:xfrm>
          <a:custGeom>
            <a:avLst/>
            <a:gdLst/>
            <a:ahLst/>
            <a:cxnLst/>
            <a:rect l="l" t="t" r="r" b="b"/>
            <a:pathLst>
              <a:path w="12527861" h="12527861">
                <a:moveTo>
                  <a:pt x="0" y="0"/>
                </a:moveTo>
                <a:lnTo>
                  <a:pt x="12527861" y="0"/>
                </a:lnTo>
                <a:lnTo>
                  <a:pt x="12527861" y="12527861"/>
                </a:lnTo>
                <a:lnTo>
                  <a:pt x="0" y="12527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12702892" y="-3877304"/>
            <a:ext cx="9112806" cy="9112806"/>
          </a:xfrm>
          <a:custGeom>
            <a:avLst/>
            <a:gdLst/>
            <a:ahLst/>
            <a:cxnLst/>
            <a:rect l="l" t="t" r="r" b="b"/>
            <a:pathLst>
              <a:path w="9112806" h="9112806">
                <a:moveTo>
                  <a:pt x="0" y="0"/>
                </a:moveTo>
                <a:lnTo>
                  <a:pt x="9112806" y="0"/>
                </a:lnTo>
                <a:lnTo>
                  <a:pt x="9112806" y="9112806"/>
                </a:lnTo>
                <a:lnTo>
                  <a:pt x="0" y="9112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685925" y="1819275"/>
            <a:ext cx="8291035" cy="186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12"/>
              </a:lnSpc>
            </a:pPr>
            <a:r>
              <a:rPr lang="en-US" sz="8938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개발 일정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1814" y="3271776"/>
            <a:ext cx="6248400" cy="72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8"/>
              </a:lnSpc>
            </a:pPr>
            <a:r>
              <a:rPr lang="en-US" sz="3384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Development Timeline</a:t>
            </a:r>
          </a:p>
        </p:txBody>
      </p:sp>
      <p:sp>
        <p:nvSpPr>
          <p:cNvPr id="13" name="Freeform 13"/>
          <p:cNvSpPr/>
          <p:nvPr/>
        </p:nvSpPr>
        <p:spPr>
          <a:xfrm>
            <a:off x="-440836" y="574681"/>
            <a:ext cx="4385300" cy="879824"/>
          </a:xfrm>
          <a:custGeom>
            <a:avLst/>
            <a:gdLst/>
            <a:ahLst/>
            <a:cxnLst/>
            <a:rect l="l" t="t" r="r" b="b"/>
            <a:pathLst>
              <a:path w="4385300" h="879824">
                <a:moveTo>
                  <a:pt x="0" y="0"/>
                </a:moveTo>
                <a:lnTo>
                  <a:pt x="4385300" y="0"/>
                </a:lnTo>
                <a:lnTo>
                  <a:pt x="4385300" y="879825"/>
                </a:lnTo>
                <a:lnTo>
                  <a:pt x="0" y="879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TextBox 14"/>
          <p:cNvSpPr txBox="1"/>
          <p:nvPr/>
        </p:nvSpPr>
        <p:spPr>
          <a:xfrm>
            <a:off x="352425" y="714375"/>
            <a:ext cx="3324225" cy="53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6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번호팅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87450" y="628650"/>
            <a:ext cx="1590675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일정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30450" y="647700"/>
            <a:ext cx="222885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감사합니다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646824"/>
            <a:ext cx="1662551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09451" y="646824"/>
            <a:ext cx="190708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소개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62500" y="3971925"/>
            <a:ext cx="37338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 b="1" u="none" strike="noStrike" dirty="0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4월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0" y="3971925"/>
            <a:ext cx="37338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 b="1" u="none" strike="noStrike" dirty="0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5월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30100" y="3971925"/>
            <a:ext cx="37338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6월</a:t>
            </a:r>
          </a:p>
        </p:txBody>
      </p:sp>
      <p:sp>
        <p:nvSpPr>
          <p:cNvPr id="22" name="AutoShape 22"/>
          <p:cNvSpPr/>
          <p:nvPr/>
        </p:nvSpPr>
        <p:spPr>
          <a:xfrm flipV="1">
            <a:off x="4762500" y="4238625"/>
            <a:ext cx="11201400" cy="0"/>
          </a:xfrm>
          <a:prstGeom prst="line">
            <a:avLst/>
          </a:prstGeom>
          <a:ln w="9525" cap="rnd">
            <a:solidFill>
              <a:srgbClr val="081269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AutoShape 23"/>
          <p:cNvSpPr/>
          <p:nvPr/>
        </p:nvSpPr>
        <p:spPr>
          <a:xfrm>
            <a:off x="4762500" y="4238625"/>
            <a:ext cx="0" cy="5743575"/>
          </a:xfrm>
          <a:prstGeom prst="line">
            <a:avLst/>
          </a:prstGeom>
          <a:ln w="9525" cap="rnd">
            <a:solidFill>
              <a:srgbClr val="081269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AutoShape 24"/>
          <p:cNvSpPr/>
          <p:nvPr/>
        </p:nvSpPr>
        <p:spPr>
          <a:xfrm>
            <a:off x="8496300" y="4238625"/>
            <a:ext cx="0" cy="5743575"/>
          </a:xfrm>
          <a:prstGeom prst="line">
            <a:avLst/>
          </a:prstGeom>
          <a:ln w="9525" cap="rnd">
            <a:solidFill>
              <a:srgbClr val="081269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utoShape 25"/>
          <p:cNvSpPr/>
          <p:nvPr/>
        </p:nvSpPr>
        <p:spPr>
          <a:xfrm>
            <a:off x="12230100" y="4238625"/>
            <a:ext cx="0" cy="5743575"/>
          </a:xfrm>
          <a:prstGeom prst="line">
            <a:avLst/>
          </a:prstGeom>
          <a:ln w="9525" cap="rnd">
            <a:solidFill>
              <a:srgbClr val="081269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15963900" y="4238625"/>
            <a:ext cx="0" cy="5743575"/>
          </a:xfrm>
          <a:prstGeom prst="line">
            <a:avLst/>
          </a:prstGeom>
          <a:ln w="9525" cap="rnd">
            <a:solidFill>
              <a:srgbClr val="081269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Box 27"/>
          <p:cNvSpPr txBox="1"/>
          <p:nvPr/>
        </p:nvSpPr>
        <p:spPr>
          <a:xfrm>
            <a:off x="1734319" y="4333971"/>
            <a:ext cx="3141695" cy="347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2658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프로젝트</a:t>
            </a:r>
            <a:r>
              <a:rPr lang="en-US" sz="2658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58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주제</a:t>
            </a:r>
            <a:r>
              <a:rPr lang="en-US" sz="2658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58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선정</a:t>
            </a:r>
            <a:endParaRPr lang="en-US" sz="2658" u="none" strike="noStrike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4762500" y="4362450"/>
            <a:ext cx="933450" cy="285750"/>
            <a:chOff x="0" y="0"/>
            <a:chExt cx="1244600" cy="381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44600" cy="381000"/>
            </a:xfrm>
            <a:custGeom>
              <a:avLst/>
              <a:gdLst/>
              <a:ahLst/>
              <a:cxnLst/>
              <a:rect l="l" t="t" r="r" b="b"/>
              <a:pathLst>
                <a:path w="1244600" h="381000">
                  <a:moveTo>
                    <a:pt x="43180" y="0"/>
                  </a:moveTo>
                  <a:lnTo>
                    <a:pt x="1201420" y="0"/>
                  </a:lnTo>
                  <a:cubicBezTo>
                    <a:pt x="1212872" y="0"/>
                    <a:pt x="1223855" y="4014"/>
                    <a:pt x="1231953" y="11159"/>
                  </a:cubicBezTo>
                  <a:cubicBezTo>
                    <a:pt x="1240051" y="18304"/>
                    <a:pt x="1244600" y="27995"/>
                    <a:pt x="1244600" y="38100"/>
                  </a:cubicBezTo>
                  <a:lnTo>
                    <a:pt x="1244600" y="342900"/>
                  </a:lnTo>
                  <a:cubicBezTo>
                    <a:pt x="1244600" y="353005"/>
                    <a:pt x="1240051" y="362696"/>
                    <a:pt x="1231953" y="369841"/>
                  </a:cubicBezTo>
                  <a:cubicBezTo>
                    <a:pt x="1223855" y="376986"/>
                    <a:pt x="1212872" y="381000"/>
                    <a:pt x="12014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4A5ACF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714500" y="4752975"/>
            <a:ext cx="2667000" cy="40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주요</a:t>
            </a:r>
            <a:r>
              <a:rPr lang="en-US" sz="2922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기능</a:t>
            </a:r>
            <a:r>
              <a:rPr lang="en-US" sz="2922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정의</a:t>
            </a:r>
            <a:endParaRPr lang="en-US" sz="2922" u="none" strike="noStrike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5695950" y="4800600"/>
            <a:ext cx="933450" cy="285750"/>
            <a:chOff x="0" y="0"/>
            <a:chExt cx="1244600" cy="381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44600" cy="381000"/>
            </a:xfrm>
            <a:custGeom>
              <a:avLst/>
              <a:gdLst/>
              <a:ahLst/>
              <a:cxnLst/>
              <a:rect l="l" t="t" r="r" b="b"/>
              <a:pathLst>
                <a:path w="1244600" h="381000">
                  <a:moveTo>
                    <a:pt x="43180" y="0"/>
                  </a:moveTo>
                  <a:lnTo>
                    <a:pt x="1201420" y="0"/>
                  </a:lnTo>
                  <a:cubicBezTo>
                    <a:pt x="1212872" y="0"/>
                    <a:pt x="1223855" y="4014"/>
                    <a:pt x="1231953" y="11159"/>
                  </a:cubicBezTo>
                  <a:cubicBezTo>
                    <a:pt x="1240051" y="18304"/>
                    <a:pt x="1244600" y="27995"/>
                    <a:pt x="1244600" y="38100"/>
                  </a:cubicBezTo>
                  <a:lnTo>
                    <a:pt x="1244600" y="342900"/>
                  </a:lnTo>
                  <a:cubicBezTo>
                    <a:pt x="1244600" y="353005"/>
                    <a:pt x="1240051" y="362696"/>
                    <a:pt x="1231953" y="369841"/>
                  </a:cubicBezTo>
                  <a:cubicBezTo>
                    <a:pt x="1223855" y="376986"/>
                    <a:pt x="1212872" y="381000"/>
                    <a:pt x="12014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4A5ACF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729668" y="5206271"/>
            <a:ext cx="2667000" cy="40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UI/UX </a:t>
            </a: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설계</a:t>
            </a:r>
            <a:endParaRPr lang="en-US" sz="2922" u="none" strike="noStrike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5695950" y="5238750"/>
            <a:ext cx="1866900" cy="285750"/>
            <a:chOff x="0" y="0"/>
            <a:chExt cx="2489200" cy="381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489200" cy="381000"/>
            </a:xfrm>
            <a:custGeom>
              <a:avLst/>
              <a:gdLst/>
              <a:ahLst/>
              <a:cxnLst/>
              <a:rect l="l" t="t" r="r" b="b"/>
              <a:pathLst>
                <a:path w="2489200" h="381000">
                  <a:moveTo>
                    <a:pt x="43180" y="0"/>
                  </a:moveTo>
                  <a:lnTo>
                    <a:pt x="2446020" y="0"/>
                  </a:lnTo>
                  <a:cubicBezTo>
                    <a:pt x="2469868" y="0"/>
                    <a:pt x="2489200" y="17058"/>
                    <a:pt x="2489200" y="38100"/>
                  </a:cubicBezTo>
                  <a:lnTo>
                    <a:pt x="2489200" y="342900"/>
                  </a:lnTo>
                  <a:cubicBezTo>
                    <a:pt x="2489200" y="363942"/>
                    <a:pt x="2469868" y="381000"/>
                    <a:pt x="24460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4A5ACF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14500" y="5629275"/>
            <a:ext cx="2667000" cy="40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기술 스택 선정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629400" y="5676900"/>
            <a:ext cx="933450" cy="285750"/>
            <a:chOff x="0" y="0"/>
            <a:chExt cx="1244600" cy="381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44600" cy="381000"/>
            </a:xfrm>
            <a:custGeom>
              <a:avLst/>
              <a:gdLst/>
              <a:ahLst/>
              <a:cxnLst/>
              <a:rect l="l" t="t" r="r" b="b"/>
              <a:pathLst>
                <a:path w="1244600" h="381000">
                  <a:moveTo>
                    <a:pt x="43180" y="0"/>
                  </a:moveTo>
                  <a:lnTo>
                    <a:pt x="1201420" y="0"/>
                  </a:lnTo>
                  <a:cubicBezTo>
                    <a:pt x="1212872" y="0"/>
                    <a:pt x="1223855" y="4014"/>
                    <a:pt x="1231953" y="11159"/>
                  </a:cubicBezTo>
                  <a:cubicBezTo>
                    <a:pt x="1240051" y="18304"/>
                    <a:pt x="1244600" y="27995"/>
                    <a:pt x="1244600" y="38100"/>
                  </a:cubicBezTo>
                  <a:lnTo>
                    <a:pt x="1244600" y="342900"/>
                  </a:lnTo>
                  <a:cubicBezTo>
                    <a:pt x="1244600" y="353005"/>
                    <a:pt x="1240051" y="362696"/>
                    <a:pt x="1231953" y="369841"/>
                  </a:cubicBezTo>
                  <a:cubicBezTo>
                    <a:pt x="1223855" y="376986"/>
                    <a:pt x="1212872" y="381000"/>
                    <a:pt x="12014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4A5ACF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714500" y="6067425"/>
            <a:ext cx="2667000" cy="40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역할 분담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562850" y="6115050"/>
            <a:ext cx="933450" cy="285750"/>
            <a:chOff x="0" y="0"/>
            <a:chExt cx="1244600" cy="381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44600" cy="381000"/>
            </a:xfrm>
            <a:custGeom>
              <a:avLst/>
              <a:gdLst/>
              <a:ahLst/>
              <a:cxnLst/>
              <a:rect l="l" t="t" r="r" b="b"/>
              <a:pathLst>
                <a:path w="1244600" h="381000">
                  <a:moveTo>
                    <a:pt x="43180" y="0"/>
                  </a:moveTo>
                  <a:lnTo>
                    <a:pt x="1201420" y="0"/>
                  </a:lnTo>
                  <a:cubicBezTo>
                    <a:pt x="1212872" y="0"/>
                    <a:pt x="1223855" y="4014"/>
                    <a:pt x="1231953" y="11159"/>
                  </a:cubicBezTo>
                  <a:cubicBezTo>
                    <a:pt x="1240051" y="18304"/>
                    <a:pt x="1244600" y="27995"/>
                    <a:pt x="1244600" y="38100"/>
                  </a:cubicBezTo>
                  <a:lnTo>
                    <a:pt x="1244600" y="342900"/>
                  </a:lnTo>
                  <a:cubicBezTo>
                    <a:pt x="1244600" y="353005"/>
                    <a:pt x="1240051" y="362696"/>
                    <a:pt x="1231953" y="369841"/>
                  </a:cubicBezTo>
                  <a:cubicBezTo>
                    <a:pt x="1223855" y="376986"/>
                    <a:pt x="1212872" y="381000"/>
                    <a:pt x="12014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4A5ACF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714500" y="6505575"/>
            <a:ext cx="2667000" cy="40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Flutter UI </a:t>
            </a: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개발</a:t>
            </a:r>
            <a:endParaRPr lang="en-US" sz="2922" u="none" strike="noStrike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3" name="Group 43"/>
          <p:cNvGrpSpPr/>
          <p:nvPr/>
        </p:nvGrpSpPr>
        <p:grpSpPr>
          <a:xfrm>
            <a:off x="8496300" y="6553200"/>
            <a:ext cx="3733800" cy="285750"/>
            <a:chOff x="0" y="0"/>
            <a:chExt cx="4978400" cy="381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978400" cy="381000"/>
            </a:xfrm>
            <a:custGeom>
              <a:avLst/>
              <a:gdLst/>
              <a:ahLst/>
              <a:cxnLst/>
              <a:rect l="l" t="t" r="r" b="b"/>
              <a:pathLst>
                <a:path w="4978400" h="381000">
                  <a:moveTo>
                    <a:pt x="43180" y="0"/>
                  </a:moveTo>
                  <a:lnTo>
                    <a:pt x="4935220" y="0"/>
                  </a:lnTo>
                  <a:cubicBezTo>
                    <a:pt x="4959068" y="0"/>
                    <a:pt x="4978400" y="17058"/>
                    <a:pt x="4978400" y="38100"/>
                  </a:cubicBezTo>
                  <a:lnTo>
                    <a:pt x="4978400" y="342900"/>
                  </a:lnTo>
                  <a:cubicBezTo>
                    <a:pt x="4978400" y="363942"/>
                    <a:pt x="4959068" y="381000"/>
                    <a:pt x="49352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F5A623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714499" y="6956553"/>
            <a:ext cx="3141695" cy="347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2658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카카오</a:t>
            </a:r>
            <a:r>
              <a:rPr lang="en-US" sz="2658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58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로그인</a:t>
            </a:r>
            <a:r>
              <a:rPr lang="en-US" sz="2658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58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연동</a:t>
            </a:r>
            <a:endParaRPr lang="en-US" sz="2658" u="none" strike="noStrike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8496300" y="6991350"/>
            <a:ext cx="1866900" cy="285750"/>
            <a:chOff x="0" y="0"/>
            <a:chExt cx="2489200" cy="381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89200" cy="381000"/>
            </a:xfrm>
            <a:custGeom>
              <a:avLst/>
              <a:gdLst/>
              <a:ahLst/>
              <a:cxnLst/>
              <a:rect l="l" t="t" r="r" b="b"/>
              <a:pathLst>
                <a:path w="2489200" h="381000">
                  <a:moveTo>
                    <a:pt x="43180" y="0"/>
                  </a:moveTo>
                  <a:lnTo>
                    <a:pt x="2446020" y="0"/>
                  </a:lnTo>
                  <a:cubicBezTo>
                    <a:pt x="2469868" y="0"/>
                    <a:pt x="2489200" y="17058"/>
                    <a:pt x="2489200" y="38100"/>
                  </a:cubicBezTo>
                  <a:lnTo>
                    <a:pt x="2489200" y="342900"/>
                  </a:lnTo>
                  <a:cubicBezTo>
                    <a:pt x="2489200" y="363942"/>
                    <a:pt x="2469868" y="381000"/>
                    <a:pt x="24460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F5A623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704506" y="7396517"/>
            <a:ext cx="3648409" cy="375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실시간</a:t>
            </a:r>
            <a:r>
              <a:rPr lang="en-US" sz="2922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채팅</a:t>
            </a:r>
            <a:r>
              <a:rPr lang="en-US" sz="2922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구현</a:t>
            </a:r>
            <a:endParaRPr lang="en-US" sz="2922" u="none" strike="noStrike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" name="Group 49"/>
          <p:cNvGrpSpPr/>
          <p:nvPr/>
        </p:nvGrpSpPr>
        <p:grpSpPr>
          <a:xfrm>
            <a:off x="9429750" y="7429500"/>
            <a:ext cx="2800350" cy="285750"/>
            <a:chOff x="0" y="0"/>
            <a:chExt cx="3733800" cy="381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733800" cy="381000"/>
            </a:xfrm>
            <a:custGeom>
              <a:avLst/>
              <a:gdLst/>
              <a:ahLst/>
              <a:cxnLst/>
              <a:rect l="l" t="t" r="r" b="b"/>
              <a:pathLst>
                <a:path w="3733800" h="381000">
                  <a:moveTo>
                    <a:pt x="43180" y="0"/>
                  </a:moveTo>
                  <a:lnTo>
                    <a:pt x="3690620" y="0"/>
                  </a:lnTo>
                  <a:cubicBezTo>
                    <a:pt x="3714468" y="0"/>
                    <a:pt x="3733800" y="17058"/>
                    <a:pt x="3733800" y="38100"/>
                  </a:cubicBezTo>
                  <a:lnTo>
                    <a:pt x="3733800" y="342900"/>
                  </a:lnTo>
                  <a:cubicBezTo>
                    <a:pt x="3733800" y="363942"/>
                    <a:pt x="3714468" y="381000"/>
                    <a:pt x="36906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F5A623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729668" y="7834667"/>
            <a:ext cx="3047999" cy="375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이메일</a:t>
            </a:r>
            <a:r>
              <a:rPr lang="en-US" sz="2922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인증</a:t>
            </a:r>
            <a:r>
              <a:rPr lang="en-US" sz="2922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구현</a:t>
            </a:r>
            <a:endParaRPr lang="en-US" sz="2922" u="none" strike="noStrike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2" name="Group 52"/>
          <p:cNvGrpSpPr/>
          <p:nvPr/>
        </p:nvGrpSpPr>
        <p:grpSpPr>
          <a:xfrm>
            <a:off x="10363200" y="7867650"/>
            <a:ext cx="1866900" cy="285750"/>
            <a:chOff x="0" y="0"/>
            <a:chExt cx="2489200" cy="381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489200" cy="381000"/>
            </a:xfrm>
            <a:custGeom>
              <a:avLst/>
              <a:gdLst/>
              <a:ahLst/>
              <a:cxnLst/>
              <a:rect l="l" t="t" r="r" b="b"/>
              <a:pathLst>
                <a:path w="2489200" h="381000">
                  <a:moveTo>
                    <a:pt x="43180" y="0"/>
                  </a:moveTo>
                  <a:lnTo>
                    <a:pt x="2446020" y="0"/>
                  </a:lnTo>
                  <a:cubicBezTo>
                    <a:pt x="2469868" y="0"/>
                    <a:pt x="2489200" y="17058"/>
                    <a:pt x="2489200" y="38100"/>
                  </a:cubicBezTo>
                  <a:lnTo>
                    <a:pt x="2489200" y="342900"/>
                  </a:lnTo>
                  <a:cubicBezTo>
                    <a:pt x="2489200" y="363942"/>
                    <a:pt x="2469868" y="381000"/>
                    <a:pt x="24460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F5A623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714500" y="8258175"/>
            <a:ext cx="2667000" cy="40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랜덤 매칭 구현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1296650" y="8305800"/>
            <a:ext cx="1866900" cy="285750"/>
            <a:chOff x="0" y="0"/>
            <a:chExt cx="2489200" cy="381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489200" cy="381000"/>
            </a:xfrm>
            <a:custGeom>
              <a:avLst/>
              <a:gdLst/>
              <a:ahLst/>
              <a:cxnLst/>
              <a:rect l="l" t="t" r="r" b="b"/>
              <a:pathLst>
                <a:path w="2489200" h="381000">
                  <a:moveTo>
                    <a:pt x="43180" y="0"/>
                  </a:moveTo>
                  <a:lnTo>
                    <a:pt x="2446020" y="0"/>
                  </a:lnTo>
                  <a:cubicBezTo>
                    <a:pt x="2469868" y="0"/>
                    <a:pt x="2489200" y="17058"/>
                    <a:pt x="2489200" y="38100"/>
                  </a:cubicBezTo>
                  <a:lnTo>
                    <a:pt x="2489200" y="342900"/>
                  </a:lnTo>
                  <a:cubicBezTo>
                    <a:pt x="2489200" y="363942"/>
                    <a:pt x="2469868" y="381000"/>
                    <a:pt x="24460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F5A623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714500" y="8696325"/>
            <a:ext cx="2667000" cy="40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최종 테스트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2230100" y="8743950"/>
            <a:ext cx="1866900" cy="285750"/>
            <a:chOff x="0" y="0"/>
            <a:chExt cx="2489200" cy="381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489200" cy="381000"/>
            </a:xfrm>
            <a:custGeom>
              <a:avLst/>
              <a:gdLst/>
              <a:ahLst/>
              <a:cxnLst/>
              <a:rect l="l" t="t" r="r" b="b"/>
              <a:pathLst>
                <a:path w="2489200" h="381000">
                  <a:moveTo>
                    <a:pt x="43180" y="0"/>
                  </a:moveTo>
                  <a:lnTo>
                    <a:pt x="2446020" y="0"/>
                  </a:lnTo>
                  <a:cubicBezTo>
                    <a:pt x="2469868" y="0"/>
                    <a:pt x="2489200" y="17058"/>
                    <a:pt x="2489200" y="38100"/>
                  </a:cubicBezTo>
                  <a:lnTo>
                    <a:pt x="2489200" y="342900"/>
                  </a:lnTo>
                  <a:cubicBezTo>
                    <a:pt x="2489200" y="363942"/>
                    <a:pt x="2469868" y="381000"/>
                    <a:pt x="24460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E74C3C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714499" y="9134475"/>
            <a:ext cx="2855943" cy="375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결과</a:t>
            </a:r>
            <a:r>
              <a:rPr lang="en-US" sz="2922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보고서</a:t>
            </a:r>
            <a:r>
              <a:rPr lang="en-US" sz="2922" u="none" strike="noStrike" dirty="0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22" u="none" strike="noStrike" dirty="0" err="1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작성</a:t>
            </a:r>
            <a:endParaRPr lang="en-US" sz="2922" u="none" strike="noStrike" dirty="0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1" name="Group 61"/>
          <p:cNvGrpSpPr/>
          <p:nvPr/>
        </p:nvGrpSpPr>
        <p:grpSpPr>
          <a:xfrm>
            <a:off x="13163550" y="9182100"/>
            <a:ext cx="1866900" cy="285750"/>
            <a:chOff x="0" y="0"/>
            <a:chExt cx="2489200" cy="3810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489200" cy="381000"/>
            </a:xfrm>
            <a:custGeom>
              <a:avLst/>
              <a:gdLst/>
              <a:ahLst/>
              <a:cxnLst/>
              <a:rect l="l" t="t" r="r" b="b"/>
              <a:pathLst>
                <a:path w="2489200" h="381000">
                  <a:moveTo>
                    <a:pt x="43180" y="0"/>
                  </a:moveTo>
                  <a:lnTo>
                    <a:pt x="2446020" y="0"/>
                  </a:lnTo>
                  <a:cubicBezTo>
                    <a:pt x="2469868" y="0"/>
                    <a:pt x="2489200" y="17058"/>
                    <a:pt x="2489200" y="38100"/>
                  </a:cubicBezTo>
                  <a:lnTo>
                    <a:pt x="2489200" y="342900"/>
                  </a:lnTo>
                  <a:cubicBezTo>
                    <a:pt x="2489200" y="363942"/>
                    <a:pt x="2469868" y="381000"/>
                    <a:pt x="24460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E74C3C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714500" y="9572625"/>
            <a:ext cx="2667000" cy="40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922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발표 및 제출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5030450" y="9620250"/>
            <a:ext cx="933450" cy="285750"/>
            <a:chOff x="0" y="0"/>
            <a:chExt cx="1244600" cy="3810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244600" cy="381000"/>
            </a:xfrm>
            <a:custGeom>
              <a:avLst/>
              <a:gdLst/>
              <a:ahLst/>
              <a:cxnLst/>
              <a:rect l="l" t="t" r="r" b="b"/>
              <a:pathLst>
                <a:path w="1244600" h="381000">
                  <a:moveTo>
                    <a:pt x="43180" y="0"/>
                  </a:moveTo>
                  <a:lnTo>
                    <a:pt x="1201420" y="0"/>
                  </a:lnTo>
                  <a:cubicBezTo>
                    <a:pt x="1212872" y="0"/>
                    <a:pt x="1223855" y="4014"/>
                    <a:pt x="1231953" y="11159"/>
                  </a:cubicBezTo>
                  <a:cubicBezTo>
                    <a:pt x="1240051" y="18304"/>
                    <a:pt x="1244600" y="27995"/>
                    <a:pt x="1244600" y="38100"/>
                  </a:cubicBezTo>
                  <a:lnTo>
                    <a:pt x="1244600" y="342900"/>
                  </a:lnTo>
                  <a:cubicBezTo>
                    <a:pt x="1244600" y="353005"/>
                    <a:pt x="1240051" y="362696"/>
                    <a:pt x="1231953" y="369841"/>
                  </a:cubicBezTo>
                  <a:cubicBezTo>
                    <a:pt x="1223855" y="376986"/>
                    <a:pt x="1212872" y="381000"/>
                    <a:pt x="1201420" y="381000"/>
                  </a:cubicBezTo>
                  <a:lnTo>
                    <a:pt x="43180" y="381000"/>
                  </a:lnTo>
                  <a:cubicBezTo>
                    <a:pt x="19332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E74C3C">
                <a:alpha val="84706"/>
              </a:srgbClr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525000" y="9982200"/>
            <a:ext cx="190500" cy="190500"/>
            <a:chOff x="0" y="0"/>
            <a:chExt cx="254000" cy="2540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" y="0"/>
                  </a:move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228600"/>
                  </a:lnTo>
                  <a:cubicBezTo>
                    <a:pt x="254000" y="242628"/>
                    <a:pt x="242628" y="254000"/>
                    <a:pt x="228600" y="254000"/>
                  </a:cubicBezTo>
                  <a:lnTo>
                    <a:pt x="25400" y="254000"/>
                  </a:lnTo>
                  <a:cubicBezTo>
                    <a:pt x="11372" y="254000"/>
                    <a:pt x="0" y="242628"/>
                    <a:pt x="0" y="228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E74C3C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096250" y="9982200"/>
            <a:ext cx="190500" cy="190500"/>
            <a:chOff x="0" y="0"/>
            <a:chExt cx="254000" cy="2540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" y="0"/>
                  </a:move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228600"/>
                  </a:lnTo>
                  <a:cubicBezTo>
                    <a:pt x="254000" y="242628"/>
                    <a:pt x="242628" y="254000"/>
                    <a:pt x="228600" y="254000"/>
                  </a:cubicBezTo>
                  <a:lnTo>
                    <a:pt x="25400" y="254000"/>
                  </a:lnTo>
                  <a:cubicBezTo>
                    <a:pt x="11372" y="254000"/>
                    <a:pt x="0" y="242628"/>
                    <a:pt x="0" y="228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F5A623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67500" y="9982200"/>
            <a:ext cx="190500" cy="190500"/>
            <a:chOff x="0" y="0"/>
            <a:chExt cx="254000" cy="2540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25400" y="0"/>
                  </a:move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228600"/>
                  </a:lnTo>
                  <a:cubicBezTo>
                    <a:pt x="254000" y="242628"/>
                    <a:pt x="242628" y="254000"/>
                    <a:pt x="228600" y="254000"/>
                  </a:cubicBezTo>
                  <a:lnTo>
                    <a:pt x="25400" y="254000"/>
                  </a:lnTo>
                  <a:cubicBezTo>
                    <a:pt x="11372" y="254000"/>
                    <a:pt x="0" y="242628"/>
                    <a:pt x="0" y="2286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4A5ACF"/>
            </a:solidFill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55953" y="8131435"/>
            <a:ext cx="1245603" cy="1247727"/>
            <a:chOff x="0" y="0"/>
            <a:chExt cx="1660804" cy="1663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0779" cy="1663700"/>
            </a:xfrm>
            <a:custGeom>
              <a:avLst/>
              <a:gdLst/>
              <a:ahLst/>
              <a:cxnLst/>
              <a:rect l="l" t="t" r="r" b="b"/>
              <a:pathLst>
                <a:path w="1660779" h="1663700">
                  <a:moveTo>
                    <a:pt x="0" y="0"/>
                  </a:moveTo>
                  <a:lnTo>
                    <a:pt x="1660779" y="0"/>
                  </a:lnTo>
                  <a:lnTo>
                    <a:pt x="1660779" y="1663700"/>
                  </a:lnTo>
                  <a:lnTo>
                    <a:pt x="0" y="166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7" r="-1" b="-1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311158" y="-2289153"/>
            <a:ext cx="13467550" cy="17020604"/>
            <a:chOff x="0" y="0"/>
            <a:chExt cx="17956733" cy="226941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6785" cy="22694137"/>
            </a:xfrm>
            <a:custGeom>
              <a:avLst/>
              <a:gdLst/>
              <a:ahLst/>
              <a:cxnLst/>
              <a:rect l="l" t="t" r="r" b="b"/>
              <a:pathLst>
                <a:path w="17956785" h="22694137">
                  <a:moveTo>
                    <a:pt x="0" y="0"/>
                  </a:moveTo>
                  <a:lnTo>
                    <a:pt x="17956785" y="0"/>
                  </a:lnTo>
                  <a:lnTo>
                    <a:pt x="17956785" y="22694137"/>
                  </a:lnTo>
                  <a:lnTo>
                    <a:pt x="0" y="2269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0999"/>
              </a:blip>
              <a:stretch>
                <a:fillRect l="-58" r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0995365" y="-5584831"/>
            <a:ext cx="12527861" cy="12527861"/>
          </a:xfrm>
          <a:custGeom>
            <a:avLst/>
            <a:gdLst/>
            <a:ahLst/>
            <a:cxnLst/>
            <a:rect l="l" t="t" r="r" b="b"/>
            <a:pathLst>
              <a:path w="12527861" h="12527861">
                <a:moveTo>
                  <a:pt x="0" y="0"/>
                </a:moveTo>
                <a:lnTo>
                  <a:pt x="12527861" y="0"/>
                </a:lnTo>
                <a:lnTo>
                  <a:pt x="12527861" y="12527861"/>
                </a:lnTo>
                <a:lnTo>
                  <a:pt x="0" y="12527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2702892" y="-3877304"/>
            <a:ext cx="9112806" cy="9112806"/>
          </a:xfrm>
          <a:custGeom>
            <a:avLst/>
            <a:gdLst/>
            <a:ahLst/>
            <a:cxnLst/>
            <a:rect l="l" t="t" r="r" b="b"/>
            <a:pathLst>
              <a:path w="9112806" h="9112806">
                <a:moveTo>
                  <a:pt x="0" y="0"/>
                </a:moveTo>
                <a:lnTo>
                  <a:pt x="9112806" y="0"/>
                </a:lnTo>
                <a:lnTo>
                  <a:pt x="9112806" y="9112806"/>
                </a:lnTo>
                <a:lnTo>
                  <a:pt x="0" y="9112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85925" y="1257300"/>
            <a:ext cx="15240000" cy="2318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38"/>
              </a:lnSpc>
            </a:pPr>
            <a:r>
              <a:rPr lang="en-US" sz="11026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보안 및 개인정보 보호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925" y="3409950"/>
            <a:ext cx="6248400" cy="72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8"/>
              </a:lnSpc>
            </a:pPr>
            <a:r>
              <a:rPr lang="en-US" sz="3384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Security &amp; Privacy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4975" y="4324350"/>
            <a:ext cx="6667500" cy="176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8"/>
              </a:lnSpc>
            </a:pPr>
            <a:r>
              <a:rPr lang="ko-KR" alt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실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명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채팅</a:t>
            </a:r>
            <a:endParaRPr lang="en-US" sz="2511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algn="just">
              <a:lnSpc>
                <a:spcPts val="3518"/>
              </a:lnSpc>
            </a:pPr>
            <a:endParaRPr lang="en-US" sz="2511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algn="just">
              <a:lnSpc>
                <a:spcPts val="3518"/>
              </a:lnSpc>
            </a:pP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-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전화번호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비공개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기반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익명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채팅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제공</a:t>
            </a:r>
            <a:endParaRPr lang="en-US" sz="2511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algn="just">
              <a:lnSpc>
                <a:spcPts val="3518"/>
              </a:lnSpc>
            </a:pP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-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최소한의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사용자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정보만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수집</a:t>
            </a:r>
            <a:endParaRPr lang="en-US" sz="2511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-440836" y="574681"/>
            <a:ext cx="4385300" cy="879824"/>
          </a:xfrm>
          <a:custGeom>
            <a:avLst/>
            <a:gdLst/>
            <a:ahLst/>
            <a:cxnLst/>
            <a:rect l="l" t="t" r="r" b="b"/>
            <a:pathLst>
              <a:path w="4385300" h="879824">
                <a:moveTo>
                  <a:pt x="0" y="0"/>
                </a:moveTo>
                <a:lnTo>
                  <a:pt x="4385300" y="0"/>
                </a:lnTo>
                <a:lnTo>
                  <a:pt x="4385300" y="879825"/>
                </a:lnTo>
                <a:lnTo>
                  <a:pt x="0" y="879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52425" y="714375"/>
            <a:ext cx="3324225" cy="53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66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번호팅</a:t>
            </a:r>
            <a:endParaRPr lang="en-US" sz="266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887450" y="628650"/>
            <a:ext cx="1590675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보안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30450" y="647700"/>
            <a:ext cx="222885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팀 소개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646824"/>
            <a:ext cx="1662551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09451" y="646824"/>
            <a:ext cx="190708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소개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48750" y="4324350"/>
            <a:ext cx="6667500" cy="175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8"/>
              </a:lnSpc>
            </a:pP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사용자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검증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및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보안</a:t>
            </a:r>
            <a:endParaRPr lang="en-US" sz="2511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algn="just">
              <a:lnSpc>
                <a:spcPts val="3518"/>
              </a:lnSpc>
            </a:pPr>
            <a:endParaRPr lang="en-US" sz="2511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algn="just">
              <a:lnSpc>
                <a:spcPts val="3518"/>
              </a:lnSpc>
            </a:pP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-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학교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이메일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인증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기반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사용자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검증</a:t>
            </a:r>
            <a:endParaRPr lang="en-US" sz="2511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  <a:p>
            <a:pPr algn="just">
              <a:lnSpc>
                <a:spcPts val="3518"/>
              </a:lnSpc>
            </a:pP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- .env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파일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기반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민감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정보</a:t>
            </a:r>
            <a:r>
              <a:rPr lang="en-US" sz="2511" dirty="0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 </a:t>
            </a:r>
            <a:r>
              <a:rPr lang="en-US" sz="2511" dirty="0" err="1">
                <a:solidFill>
                  <a:srgbClr val="081269"/>
                </a:solidFill>
                <a:latin typeface="+mn-ea"/>
                <a:cs typeface="Poppins"/>
                <a:sym typeface="Poppins"/>
              </a:rPr>
              <a:t>보호</a:t>
            </a:r>
            <a:endParaRPr lang="en-US" sz="2511" dirty="0">
              <a:solidFill>
                <a:srgbClr val="081269"/>
              </a:solidFill>
              <a:latin typeface="+mn-ea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53513" y="8202961"/>
            <a:ext cx="1245584" cy="1247775"/>
            <a:chOff x="530080" y="95368"/>
            <a:chExt cx="1660779" cy="1663700"/>
          </a:xfrm>
        </p:grpSpPr>
        <p:sp>
          <p:nvSpPr>
            <p:cNvPr id="3" name="Freeform 3"/>
            <p:cNvSpPr/>
            <p:nvPr/>
          </p:nvSpPr>
          <p:spPr>
            <a:xfrm>
              <a:off x="530080" y="95368"/>
              <a:ext cx="1660779" cy="1663700"/>
            </a:xfrm>
            <a:custGeom>
              <a:avLst/>
              <a:gdLst/>
              <a:ahLst/>
              <a:cxnLst/>
              <a:rect l="l" t="t" r="r" b="b"/>
              <a:pathLst>
                <a:path w="1660779" h="1663700">
                  <a:moveTo>
                    <a:pt x="0" y="0"/>
                  </a:moveTo>
                  <a:lnTo>
                    <a:pt x="1660779" y="0"/>
                  </a:lnTo>
                  <a:lnTo>
                    <a:pt x="1660779" y="1663700"/>
                  </a:lnTo>
                  <a:lnTo>
                    <a:pt x="0" y="166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7" r="-1" b="-123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311158" y="-2289153"/>
            <a:ext cx="13467550" cy="17020604"/>
            <a:chOff x="0" y="0"/>
            <a:chExt cx="17956733" cy="226941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6785" cy="22694137"/>
            </a:xfrm>
            <a:custGeom>
              <a:avLst/>
              <a:gdLst/>
              <a:ahLst/>
              <a:cxnLst/>
              <a:rect l="l" t="t" r="r" b="b"/>
              <a:pathLst>
                <a:path w="17956785" h="22694137">
                  <a:moveTo>
                    <a:pt x="0" y="0"/>
                  </a:moveTo>
                  <a:lnTo>
                    <a:pt x="17956785" y="0"/>
                  </a:lnTo>
                  <a:lnTo>
                    <a:pt x="17956785" y="22694137"/>
                  </a:lnTo>
                  <a:lnTo>
                    <a:pt x="0" y="2269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0999"/>
              </a:blip>
              <a:stretch>
                <a:fillRect l="-58" r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0995365" y="-5584831"/>
            <a:ext cx="12527861" cy="12527861"/>
          </a:xfrm>
          <a:custGeom>
            <a:avLst/>
            <a:gdLst/>
            <a:ahLst/>
            <a:cxnLst/>
            <a:rect l="l" t="t" r="r" b="b"/>
            <a:pathLst>
              <a:path w="12527861" h="12527861">
                <a:moveTo>
                  <a:pt x="0" y="0"/>
                </a:moveTo>
                <a:lnTo>
                  <a:pt x="12527861" y="0"/>
                </a:lnTo>
                <a:lnTo>
                  <a:pt x="12527861" y="12527861"/>
                </a:lnTo>
                <a:lnTo>
                  <a:pt x="0" y="12527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2702892" y="-3877304"/>
            <a:ext cx="9112806" cy="9112806"/>
          </a:xfrm>
          <a:custGeom>
            <a:avLst/>
            <a:gdLst/>
            <a:ahLst/>
            <a:cxnLst/>
            <a:rect l="l" t="t" r="r" b="b"/>
            <a:pathLst>
              <a:path w="9112806" h="9112806">
                <a:moveTo>
                  <a:pt x="0" y="0"/>
                </a:moveTo>
                <a:lnTo>
                  <a:pt x="9112806" y="0"/>
                </a:lnTo>
                <a:lnTo>
                  <a:pt x="9112806" y="9112806"/>
                </a:lnTo>
                <a:lnTo>
                  <a:pt x="0" y="9112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-440836" y="574681"/>
            <a:ext cx="4385300" cy="879824"/>
          </a:xfrm>
          <a:custGeom>
            <a:avLst/>
            <a:gdLst/>
            <a:ahLst/>
            <a:cxnLst/>
            <a:rect l="l" t="t" r="r" b="b"/>
            <a:pathLst>
              <a:path w="4385300" h="879824">
                <a:moveTo>
                  <a:pt x="0" y="0"/>
                </a:moveTo>
                <a:lnTo>
                  <a:pt x="4385300" y="0"/>
                </a:lnTo>
                <a:lnTo>
                  <a:pt x="4385300" y="879825"/>
                </a:lnTo>
                <a:lnTo>
                  <a:pt x="0" y="879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1714500" y="4762500"/>
            <a:ext cx="1905000" cy="3810000"/>
            <a:chOff x="0" y="0"/>
            <a:chExt cx="2540000" cy="508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40000" cy="5080000"/>
            </a:xfrm>
            <a:custGeom>
              <a:avLst/>
              <a:gdLst/>
              <a:ahLst/>
              <a:cxnLst/>
              <a:rect l="l" t="t" r="r" b="b"/>
              <a:pathLst>
                <a:path w="2540000" h="5080000">
                  <a:moveTo>
                    <a:pt x="254000" y="0"/>
                  </a:moveTo>
                  <a:lnTo>
                    <a:pt x="2286000" y="0"/>
                  </a:lnTo>
                  <a:cubicBezTo>
                    <a:pt x="2426280" y="0"/>
                    <a:pt x="2540000" y="113720"/>
                    <a:pt x="2540000" y="254000"/>
                  </a:cubicBezTo>
                  <a:lnTo>
                    <a:pt x="2540000" y="4826000"/>
                  </a:lnTo>
                  <a:cubicBezTo>
                    <a:pt x="2540000" y="4966280"/>
                    <a:pt x="2426280" y="5080000"/>
                    <a:pt x="2286000" y="5080000"/>
                  </a:cubicBezTo>
                  <a:lnTo>
                    <a:pt x="254000" y="5080000"/>
                  </a:lnTo>
                  <a:cubicBezTo>
                    <a:pt x="113720" y="5080000"/>
                    <a:pt x="0" y="4966280"/>
                    <a:pt x="0" y="482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7"/>
              <a:stretch>
                <a:fillRect t="-4200" b="-420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53000" y="4762500"/>
            <a:ext cx="1905000" cy="3810000"/>
            <a:chOff x="0" y="0"/>
            <a:chExt cx="2540000" cy="508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40000" cy="5080000"/>
            </a:xfrm>
            <a:custGeom>
              <a:avLst/>
              <a:gdLst/>
              <a:ahLst/>
              <a:cxnLst/>
              <a:rect l="l" t="t" r="r" b="b"/>
              <a:pathLst>
                <a:path w="2540000" h="5080000">
                  <a:moveTo>
                    <a:pt x="254000" y="0"/>
                  </a:moveTo>
                  <a:lnTo>
                    <a:pt x="2286000" y="0"/>
                  </a:lnTo>
                  <a:cubicBezTo>
                    <a:pt x="2426280" y="0"/>
                    <a:pt x="2540000" y="113720"/>
                    <a:pt x="2540000" y="254000"/>
                  </a:cubicBezTo>
                  <a:lnTo>
                    <a:pt x="2540000" y="4826000"/>
                  </a:lnTo>
                  <a:cubicBezTo>
                    <a:pt x="2540000" y="4966280"/>
                    <a:pt x="2426280" y="5080000"/>
                    <a:pt x="2286000" y="5080000"/>
                  </a:cubicBezTo>
                  <a:lnTo>
                    <a:pt x="254000" y="5080000"/>
                  </a:lnTo>
                  <a:cubicBezTo>
                    <a:pt x="113720" y="5080000"/>
                    <a:pt x="0" y="4966280"/>
                    <a:pt x="0" y="482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8"/>
              <a:stretch>
                <a:fillRect t="-4347" b="-434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91500" y="4762500"/>
            <a:ext cx="1905000" cy="3810000"/>
            <a:chOff x="0" y="0"/>
            <a:chExt cx="2540000" cy="508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40000" cy="5080000"/>
            </a:xfrm>
            <a:custGeom>
              <a:avLst/>
              <a:gdLst/>
              <a:ahLst/>
              <a:cxnLst/>
              <a:rect l="l" t="t" r="r" b="b"/>
              <a:pathLst>
                <a:path w="2540000" h="5080000">
                  <a:moveTo>
                    <a:pt x="254000" y="0"/>
                  </a:moveTo>
                  <a:lnTo>
                    <a:pt x="2286000" y="0"/>
                  </a:lnTo>
                  <a:cubicBezTo>
                    <a:pt x="2426280" y="0"/>
                    <a:pt x="2540000" y="113720"/>
                    <a:pt x="2540000" y="254000"/>
                  </a:cubicBezTo>
                  <a:lnTo>
                    <a:pt x="2540000" y="4826000"/>
                  </a:lnTo>
                  <a:cubicBezTo>
                    <a:pt x="2540000" y="4966280"/>
                    <a:pt x="2426280" y="5080000"/>
                    <a:pt x="2286000" y="5080000"/>
                  </a:cubicBezTo>
                  <a:lnTo>
                    <a:pt x="254000" y="5080000"/>
                  </a:lnTo>
                  <a:cubicBezTo>
                    <a:pt x="113720" y="5080000"/>
                    <a:pt x="0" y="4966280"/>
                    <a:pt x="0" y="482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9"/>
              <a:stretch>
                <a:fillRect t="-4347" b="-434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30000" y="4762500"/>
            <a:ext cx="1905000" cy="3810000"/>
            <a:chOff x="0" y="0"/>
            <a:chExt cx="2540000" cy="5080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40000" cy="5080000"/>
            </a:xfrm>
            <a:custGeom>
              <a:avLst/>
              <a:gdLst/>
              <a:ahLst/>
              <a:cxnLst/>
              <a:rect l="l" t="t" r="r" b="b"/>
              <a:pathLst>
                <a:path w="2540000" h="5080000">
                  <a:moveTo>
                    <a:pt x="254000" y="0"/>
                  </a:moveTo>
                  <a:lnTo>
                    <a:pt x="2286000" y="0"/>
                  </a:lnTo>
                  <a:cubicBezTo>
                    <a:pt x="2426280" y="0"/>
                    <a:pt x="2540000" y="113720"/>
                    <a:pt x="2540000" y="254000"/>
                  </a:cubicBezTo>
                  <a:lnTo>
                    <a:pt x="2540000" y="4826000"/>
                  </a:lnTo>
                  <a:cubicBezTo>
                    <a:pt x="2540000" y="4966280"/>
                    <a:pt x="2426280" y="5080000"/>
                    <a:pt x="2286000" y="5080000"/>
                  </a:cubicBezTo>
                  <a:lnTo>
                    <a:pt x="254000" y="5080000"/>
                  </a:lnTo>
                  <a:cubicBezTo>
                    <a:pt x="113720" y="5080000"/>
                    <a:pt x="0" y="4966280"/>
                    <a:pt x="0" y="482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10"/>
              <a:stretch>
                <a:fillRect t="-4347" b="-434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68500" y="4762500"/>
            <a:ext cx="1905000" cy="3810000"/>
            <a:chOff x="0" y="0"/>
            <a:chExt cx="2540000" cy="508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40000" cy="5080000"/>
            </a:xfrm>
            <a:custGeom>
              <a:avLst/>
              <a:gdLst/>
              <a:ahLst/>
              <a:cxnLst/>
              <a:rect l="l" t="t" r="r" b="b"/>
              <a:pathLst>
                <a:path w="2540000" h="5080000">
                  <a:moveTo>
                    <a:pt x="254000" y="0"/>
                  </a:moveTo>
                  <a:lnTo>
                    <a:pt x="2286000" y="0"/>
                  </a:lnTo>
                  <a:cubicBezTo>
                    <a:pt x="2426280" y="0"/>
                    <a:pt x="2540000" y="113720"/>
                    <a:pt x="2540000" y="254000"/>
                  </a:cubicBezTo>
                  <a:lnTo>
                    <a:pt x="2540000" y="4826000"/>
                  </a:lnTo>
                  <a:cubicBezTo>
                    <a:pt x="2540000" y="4966280"/>
                    <a:pt x="2426280" y="5080000"/>
                    <a:pt x="2286000" y="5080000"/>
                  </a:cubicBezTo>
                  <a:lnTo>
                    <a:pt x="254000" y="5080000"/>
                  </a:lnTo>
                  <a:cubicBezTo>
                    <a:pt x="113720" y="5080000"/>
                    <a:pt x="0" y="4966280"/>
                    <a:pt x="0" y="4826000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85925" y="2686050"/>
            <a:ext cx="5715000" cy="52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App Screenshots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5925" y="1514475"/>
            <a:ext cx="7620000" cy="1260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02"/>
              </a:lnSpc>
              <a:spcBef>
                <a:spcPct val="0"/>
              </a:spcBef>
            </a:pPr>
            <a:r>
              <a:rPr lang="en-US" sz="699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주요 화면 구성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2425" y="714375"/>
            <a:ext cx="3324225" cy="53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6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번호팅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87450" y="628650"/>
            <a:ext cx="1590675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화면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30450" y="647700"/>
            <a:ext cx="222885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기대 효과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4000" y="646824"/>
            <a:ext cx="1662551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49" b="1" dirty="0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09451" y="646824"/>
            <a:ext cx="190708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소개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24000" y="8743950"/>
            <a:ext cx="2286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로그인 화면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62500" y="8743950"/>
            <a:ext cx="2286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메인 화면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01000" y="8743950"/>
            <a:ext cx="2286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프로필 화면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39500" y="8743950"/>
            <a:ext cx="2286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매칭 화면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478000" y="8743950"/>
            <a:ext cx="2286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1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채팅 화면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881E9C58-5A61-0006-4150-AD2C8156588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6814" y="4783658"/>
            <a:ext cx="1905000" cy="37306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55953" y="8131435"/>
            <a:ext cx="1245603" cy="1247727"/>
            <a:chOff x="0" y="0"/>
            <a:chExt cx="1660804" cy="1663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0779" cy="1663700"/>
            </a:xfrm>
            <a:custGeom>
              <a:avLst/>
              <a:gdLst/>
              <a:ahLst/>
              <a:cxnLst/>
              <a:rect l="l" t="t" r="r" b="b"/>
              <a:pathLst>
                <a:path w="1660779" h="1663700">
                  <a:moveTo>
                    <a:pt x="0" y="0"/>
                  </a:moveTo>
                  <a:lnTo>
                    <a:pt x="1660779" y="0"/>
                  </a:lnTo>
                  <a:lnTo>
                    <a:pt x="1660779" y="1663700"/>
                  </a:lnTo>
                  <a:lnTo>
                    <a:pt x="0" y="166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7" r="-1" b="-1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311158" y="-2289153"/>
            <a:ext cx="13467550" cy="17020604"/>
            <a:chOff x="0" y="0"/>
            <a:chExt cx="17956733" cy="226941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6785" cy="22694137"/>
            </a:xfrm>
            <a:custGeom>
              <a:avLst/>
              <a:gdLst/>
              <a:ahLst/>
              <a:cxnLst/>
              <a:rect l="l" t="t" r="r" b="b"/>
              <a:pathLst>
                <a:path w="17956785" h="22694137">
                  <a:moveTo>
                    <a:pt x="0" y="0"/>
                  </a:moveTo>
                  <a:lnTo>
                    <a:pt x="17956785" y="0"/>
                  </a:lnTo>
                  <a:lnTo>
                    <a:pt x="17956785" y="22694137"/>
                  </a:lnTo>
                  <a:lnTo>
                    <a:pt x="0" y="2269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0999"/>
              </a:blip>
              <a:stretch>
                <a:fillRect l="-58" r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0995365" y="-5584831"/>
            <a:ext cx="12527861" cy="12527861"/>
          </a:xfrm>
          <a:custGeom>
            <a:avLst/>
            <a:gdLst/>
            <a:ahLst/>
            <a:cxnLst/>
            <a:rect l="l" t="t" r="r" b="b"/>
            <a:pathLst>
              <a:path w="12527861" h="12527861">
                <a:moveTo>
                  <a:pt x="0" y="0"/>
                </a:moveTo>
                <a:lnTo>
                  <a:pt x="12527861" y="0"/>
                </a:lnTo>
                <a:lnTo>
                  <a:pt x="12527861" y="12527861"/>
                </a:lnTo>
                <a:lnTo>
                  <a:pt x="0" y="12527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2702892" y="-3877304"/>
            <a:ext cx="9112806" cy="9112806"/>
          </a:xfrm>
          <a:custGeom>
            <a:avLst/>
            <a:gdLst/>
            <a:ahLst/>
            <a:cxnLst/>
            <a:rect l="l" t="t" r="r" b="b"/>
            <a:pathLst>
              <a:path w="9112806" h="9112806">
                <a:moveTo>
                  <a:pt x="0" y="0"/>
                </a:moveTo>
                <a:lnTo>
                  <a:pt x="9112806" y="0"/>
                </a:lnTo>
                <a:lnTo>
                  <a:pt x="9112806" y="9112806"/>
                </a:lnTo>
                <a:lnTo>
                  <a:pt x="0" y="9112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85925" y="1790700"/>
            <a:ext cx="10182225" cy="214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22"/>
              </a:lnSpc>
            </a:pPr>
            <a:r>
              <a:rPr lang="en-US" sz="10229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개선 예정 기능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925" y="3924300"/>
            <a:ext cx="6248400" cy="67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8"/>
              </a:lnSpc>
            </a:pPr>
            <a:r>
              <a:rPr lang="en-US" sz="3277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Future Improvements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4975" y="4800600"/>
            <a:ext cx="6667500" cy="195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2683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- Firebase DB 연동 및 서버 사용</a:t>
            </a:r>
          </a:p>
          <a:p>
            <a:pPr algn="just">
              <a:lnSpc>
                <a:spcPts val="3757"/>
              </a:lnSpc>
            </a:pPr>
            <a:r>
              <a:rPr lang="en-US" sz="2683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- 채팅 내역 저장 기능</a:t>
            </a:r>
          </a:p>
          <a:p>
            <a:pPr algn="just">
              <a:lnSpc>
                <a:spcPts val="3757"/>
              </a:lnSpc>
            </a:pPr>
            <a:r>
              <a:rPr lang="en-US" sz="2683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- 신고 기능</a:t>
            </a:r>
          </a:p>
          <a:p>
            <a:pPr algn="just">
              <a:lnSpc>
                <a:spcPts val="3757"/>
              </a:lnSpc>
            </a:pPr>
            <a:r>
              <a:rPr lang="en-US" sz="2683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- 푸시 알림 기능</a:t>
            </a:r>
          </a:p>
        </p:txBody>
      </p:sp>
      <p:sp>
        <p:nvSpPr>
          <p:cNvPr id="11" name="Freeform 11"/>
          <p:cNvSpPr/>
          <p:nvPr/>
        </p:nvSpPr>
        <p:spPr>
          <a:xfrm>
            <a:off x="-440836" y="574681"/>
            <a:ext cx="4385300" cy="879824"/>
          </a:xfrm>
          <a:custGeom>
            <a:avLst/>
            <a:gdLst/>
            <a:ahLst/>
            <a:cxnLst/>
            <a:rect l="l" t="t" r="r" b="b"/>
            <a:pathLst>
              <a:path w="4385300" h="879824">
                <a:moveTo>
                  <a:pt x="0" y="0"/>
                </a:moveTo>
                <a:lnTo>
                  <a:pt x="4385300" y="0"/>
                </a:lnTo>
                <a:lnTo>
                  <a:pt x="4385300" y="879825"/>
                </a:lnTo>
                <a:lnTo>
                  <a:pt x="0" y="879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52425" y="714375"/>
            <a:ext cx="3324225" cy="53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6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번호팅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87450" y="628650"/>
            <a:ext cx="1590675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개선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30450" y="647700"/>
            <a:ext cx="222885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감사합니다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646824"/>
            <a:ext cx="1662551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09451" y="646824"/>
            <a:ext cx="190708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49" b="1">
                <a:solidFill>
                  <a:srgbClr val="081269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소개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48750" y="4800600"/>
            <a:ext cx="6667500" cy="1489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57"/>
              </a:lnSpc>
            </a:pPr>
            <a:r>
              <a:rPr lang="en-US" sz="2683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향후 안정성과 사용자 경험을</a:t>
            </a:r>
          </a:p>
          <a:p>
            <a:pPr algn="just">
              <a:lnSpc>
                <a:spcPts val="3757"/>
              </a:lnSpc>
            </a:pPr>
            <a:r>
              <a:rPr lang="en-US" sz="2683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개선하기 위해 위 기능들을</a:t>
            </a:r>
          </a:p>
          <a:p>
            <a:pPr algn="just">
              <a:lnSpc>
                <a:spcPts val="3757"/>
              </a:lnSpc>
            </a:pPr>
            <a:r>
              <a:rPr lang="en-US" sz="2683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순차적으로 구현할 예정입니다.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C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53441" y="8252441"/>
            <a:ext cx="1005859" cy="1005859"/>
          </a:xfrm>
          <a:custGeom>
            <a:avLst/>
            <a:gdLst/>
            <a:ahLst/>
            <a:cxnLst/>
            <a:rect l="l" t="t" r="r" b="b"/>
            <a:pathLst>
              <a:path w="1005859" h="1005859">
                <a:moveTo>
                  <a:pt x="0" y="0"/>
                </a:moveTo>
                <a:lnTo>
                  <a:pt x="1005859" y="0"/>
                </a:lnTo>
                <a:lnTo>
                  <a:pt x="1005859" y="1005859"/>
                </a:lnTo>
                <a:lnTo>
                  <a:pt x="0" y="100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-440836" y="574681"/>
            <a:ext cx="4385300" cy="879824"/>
          </a:xfrm>
          <a:custGeom>
            <a:avLst/>
            <a:gdLst/>
            <a:ahLst/>
            <a:cxnLst/>
            <a:rect l="l" t="t" r="r" b="b"/>
            <a:pathLst>
              <a:path w="4385300" h="879824">
                <a:moveTo>
                  <a:pt x="0" y="0"/>
                </a:moveTo>
                <a:lnTo>
                  <a:pt x="4385300" y="0"/>
                </a:lnTo>
                <a:lnTo>
                  <a:pt x="4385300" y="879825"/>
                </a:lnTo>
                <a:lnTo>
                  <a:pt x="0" y="879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352425" y="733425"/>
            <a:ext cx="3324225" cy="431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1"/>
              </a:lnSpc>
            </a:pPr>
            <a:r>
              <a:rPr lang="en-US" sz="2129" b="1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번호팅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90574" y="662959"/>
            <a:ext cx="1589189" cy="303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551" b="1">
                <a:solidFill>
                  <a:srgbClr val="FFFFFF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기능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34327" y="684924"/>
            <a:ext cx="2224973" cy="303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72"/>
              </a:lnSpc>
            </a:pPr>
            <a:r>
              <a:rPr lang="en-US" sz="155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문의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684924"/>
            <a:ext cx="1662551" cy="303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72"/>
              </a:lnSpc>
            </a:pPr>
            <a:r>
              <a:rPr lang="en-US" sz="1551" b="1">
                <a:solidFill>
                  <a:srgbClr val="FFFFFF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소개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09451" y="684924"/>
            <a:ext cx="1907086" cy="303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1551" b="1">
                <a:solidFill>
                  <a:srgbClr val="FFFFFF">
                    <a:alpha val="49412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기술</a:t>
            </a:r>
          </a:p>
        </p:txBody>
      </p:sp>
      <p:sp>
        <p:nvSpPr>
          <p:cNvPr id="9" name="Freeform 9"/>
          <p:cNvSpPr/>
          <p:nvPr/>
        </p:nvSpPr>
        <p:spPr>
          <a:xfrm>
            <a:off x="3944464" y="-3109003"/>
            <a:ext cx="15993685" cy="15993685"/>
          </a:xfrm>
          <a:custGeom>
            <a:avLst/>
            <a:gdLst/>
            <a:ahLst/>
            <a:cxnLst/>
            <a:rect l="l" t="t" r="r" b="b"/>
            <a:pathLst>
              <a:path w="15993685" h="15993685">
                <a:moveTo>
                  <a:pt x="0" y="0"/>
                </a:moveTo>
                <a:lnTo>
                  <a:pt x="15993685" y="0"/>
                </a:lnTo>
                <a:lnTo>
                  <a:pt x="15993685" y="15993685"/>
                </a:lnTo>
                <a:lnTo>
                  <a:pt x="0" y="15993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-5198864" y="1708041"/>
            <a:ext cx="14094657" cy="14094657"/>
          </a:xfrm>
          <a:custGeom>
            <a:avLst/>
            <a:gdLst/>
            <a:ahLst/>
            <a:cxnLst/>
            <a:rect l="l" t="t" r="r" b="b"/>
            <a:pathLst>
              <a:path w="14094657" h="14094657">
                <a:moveTo>
                  <a:pt x="0" y="0"/>
                </a:moveTo>
                <a:lnTo>
                  <a:pt x="14094656" y="0"/>
                </a:lnTo>
                <a:lnTo>
                  <a:pt x="14094656" y="14094657"/>
                </a:lnTo>
                <a:lnTo>
                  <a:pt x="0" y="140946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8991600" y="1838325"/>
            <a:ext cx="5686425" cy="1752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35"/>
              </a:lnSpc>
            </a:pPr>
            <a:r>
              <a:rPr lang="en-US" sz="838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기대 효과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10650" y="4876800"/>
            <a:ext cx="6296025" cy="45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4"/>
              </a:lnSpc>
              <a:spcBef>
                <a:spcPct val="0"/>
              </a:spcBef>
            </a:pPr>
            <a:r>
              <a:rPr lang="en-US" sz="250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개인정보 노출 없는 안전한 소통 환경 제공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91600" y="5534636"/>
            <a:ext cx="6296025" cy="37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0"/>
              </a:lnSpc>
              <a:spcBef>
                <a:spcPct val="0"/>
              </a:spcBef>
            </a:pPr>
            <a:r>
              <a:rPr lang="en-US" sz="2509" u="none" strike="noStrike" spc="2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공주대학생 대상 실명 번호팅 형성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91600" y="6042817"/>
            <a:ext cx="6296025" cy="45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4"/>
              </a:lnSpc>
              <a:spcBef>
                <a:spcPct val="0"/>
              </a:spcBef>
            </a:pPr>
            <a:r>
              <a:rPr lang="en-US" sz="250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 Flutter 기반 모바일 앱 개발 경험 확보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29700" y="6670326"/>
            <a:ext cx="6296025" cy="717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8"/>
              </a:lnSpc>
              <a:spcBef>
                <a:spcPct val="0"/>
              </a:spcBef>
            </a:pPr>
            <a:r>
              <a:rPr lang="en-US" sz="2509" u="none" strike="noStrike" spc="238" dirty="0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- Socket </a:t>
            </a:r>
            <a:r>
              <a:rPr lang="en-US" sz="2509" u="none" strike="noStrike" spc="238" dirty="0" err="1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기반</a:t>
            </a:r>
            <a:r>
              <a:rPr lang="en-US" sz="2509" u="none" strike="noStrike" spc="238" dirty="0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 </a:t>
            </a:r>
            <a:r>
              <a:rPr lang="en-US" sz="2509" u="none" strike="noStrike" spc="238" dirty="0" err="1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실시간</a:t>
            </a:r>
            <a:r>
              <a:rPr lang="en-US" sz="2509" u="none" strike="noStrike" spc="238" dirty="0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 </a:t>
            </a:r>
            <a:r>
              <a:rPr lang="en-US" sz="2509" u="none" strike="noStrike" spc="238" dirty="0" err="1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통신</a:t>
            </a:r>
            <a:r>
              <a:rPr lang="en-US" sz="2509" u="none" strike="noStrike" spc="238" dirty="0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 </a:t>
            </a:r>
            <a:r>
              <a:rPr lang="en-US" sz="2509" u="none" strike="noStrike" spc="238" dirty="0" err="1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구현</a:t>
            </a:r>
            <a:r>
              <a:rPr lang="en-US" sz="2509" u="none" strike="noStrike" spc="238" dirty="0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 </a:t>
            </a:r>
            <a:r>
              <a:rPr lang="en-US" sz="2509" u="none" strike="noStrike" spc="238" dirty="0" err="1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경험</a:t>
            </a:r>
            <a:r>
              <a:rPr lang="en-US" sz="2509" u="none" strike="noStrike" spc="238" dirty="0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 </a:t>
            </a:r>
          </a:p>
          <a:p>
            <a:pPr marL="0" lvl="0" indent="0" algn="l">
              <a:lnSpc>
                <a:spcPts val="2760"/>
              </a:lnSpc>
              <a:spcBef>
                <a:spcPct val="0"/>
              </a:spcBef>
            </a:pPr>
            <a:r>
              <a:rPr lang="en-US" sz="2509" u="none" strike="noStrike" spc="240" dirty="0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   </a:t>
            </a:r>
            <a:r>
              <a:rPr lang="en-US" sz="2509" u="none" strike="noStrike" spc="240" dirty="0" err="1">
                <a:solidFill>
                  <a:srgbClr val="FFFFFF"/>
                </a:solidFill>
                <a:latin typeface="+mn-ea"/>
                <a:cs typeface="Poppins Bold"/>
                <a:sym typeface="Poppins Bold"/>
              </a:rPr>
              <a:t>확보</a:t>
            </a:r>
            <a:endParaRPr lang="en-US" sz="2509" u="none" strike="noStrike" spc="240" dirty="0">
              <a:solidFill>
                <a:srgbClr val="FFFFFF"/>
              </a:solidFill>
              <a:latin typeface="+mn-ea"/>
              <a:cs typeface="Poppins Bold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029700" y="4379986"/>
            <a:ext cx="2257425" cy="36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5"/>
              </a:lnSpc>
            </a:pPr>
            <a:r>
              <a:rPr lang="en-US" sz="2414" b="1" spc="23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기대 효과</a:t>
            </a:r>
          </a:p>
        </p:txBody>
      </p:sp>
      <p:sp>
        <p:nvSpPr>
          <p:cNvPr id="17" name="Freeform 17"/>
          <p:cNvSpPr/>
          <p:nvPr/>
        </p:nvSpPr>
        <p:spPr>
          <a:xfrm>
            <a:off x="-9157868" y="-2087375"/>
            <a:ext cx="15993685" cy="15993685"/>
          </a:xfrm>
          <a:custGeom>
            <a:avLst/>
            <a:gdLst/>
            <a:ahLst/>
            <a:cxnLst/>
            <a:rect l="l" t="t" r="r" b="b"/>
            <a:pathLst>
              <a:path w="15993685" h="15993685">
                <a:moveTo>
                  <a:pt x="0" y="0"/>
                </a:moveTo>
                <a:lnTo>
                  <a:pt x="15993684" y="0"/>
                </a:lnTo>
                <a:lnTo>
                  <a:pt x="15993684" y="15993684"/>
                </a:lnTo>
                <a:lnTo>
                  <a:pt x="0" y="15993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55953" y="8131435"/>
            <a:ext cx="1245603" cy="1247727"/>
            <a:chOff x="0" y="0"/>
            <a:chExt cx="1660804" cy="16636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0779" cy="1663700"/>
            </a:xfrm>
            <a:custGeom>
              <a:avLst/>
              <a:gdLst/>
              <a:ahLst/>
              <a:cxnLst/>
              <a:rect l="l" t="t" r="r" b="b"/>
              <a:pathLst>
                <a:path w="1660779" h="1663700">
                  <a:moveTo>
                    <a:pt x="0" y="0"/>
                  </a:moveTo>
                  <a:lnTo>
                    <a:pt x="1660779" y="0"/>
                  </a:lnTo>
                  <a:lnTo>
                    <a:pt x="1660779" y="1663700"/>
                  </a:lnTo>
                  <a:lnTo>
                    <a:pt x="0" y="166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7" r="-1" b="-12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311158" y="-2289153"/>
            <a:ext cx="13467550" cy="17020604"/>
            <a:chOff x="0" y="0"/>
            <a:chExt cx="17956733" cy="226941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6785" cy="22694137"/>
            </a:xfrm>
            <a:custGeom>
              <a:avLst/>
              <a:gdLst/>
              <a:ahLst/>
              <a:cxnLst/>
              <a:rect l="l" t="t" r="r" b="b"/>
              <a:pathLst>
                <a:path w="17956785" h="22694137">
                  <a:moveTo>
                    <a:pt x="0" y="0"/>
                  </a:moveTo>
                  <a:lnTo>
                    <a:pt x="17956785" y="0"/>
                  </a:lnTo>
                  <a:lnTo>
                    <a:pt x="17956785" y="22694137"/>
                  </a:lnTo>
                  <a:lnTo>
                    <a:pt x="0" y="226941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0999"/>
              </a:blip>
              <a:stretch>
                <a:fillRect l="-58" r="-5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10995365" y="-5584831"/>
            <a:ext cx="12527861" cy="12527861"/>
          </a:xfrm>
          <a:custGeom>
            <a:avLst/>
            <a:gdLst/>
            <a:ahLst/>
            <a:cxnLst/>
            <a:rect l="l" t="t" r="r" b="b"/>
            <a:pathLst>
              <a:path w="12527861" h="12527861">
                <a:moveTo>
                  <a:pt x="0" y="0"/>
                </a:moveTo>
                <a:lnTo>
                  <a:pt x="12527861" y="0"/>
                </a:lnTo>
                <a:lnTo>
                  <a:pt x="12527861" y="12527861"/>
                </a:lnTo>
                <a:lnTo>
                  <a:pt x="0" y="12527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Freeform 7"/>
          <p:cNvSpPr/>
          <p:nvPr/>
        </p:nvSpPr>
        <p:spPr>
          <a:xfrm>
            <a:off x="12562994" y="-3558057"/>
            <a:ext cx="9112806" cy="9112806"/>
          </a:xfrm>
          <a:custGeom>
            <a:avLst/>
            <a:gdLst/>
            <a:ahLst/>
            <a:cxnLst/>
            <a:rect l="l" t="t" r="r" b="b"/>
            <a:pathLst>
              <a:path w="9112806" h="9112806">
                <a:moveTo>
                  <a:pt x="0" y="0"/>
                </a:moveTo>
                <a:lnTo>
                  <a:pt x="9112806" y="0"/>
                </a:lnTo>
                <a:lnTo>
                  <a:pt x="9112806" y="9112806"/>
                </a:lnTo>
                <a:lnTo>
                  <a:pt x="0" y="9112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685925" y="1790700"/>
            <a:ext cx="10182225" cy="1845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22"/>
              </a:lnSpc>
              <a:spcBef>
                <a:spcPct val="0"/>
              </a:spcBef>
            </a:pPr>
            <a:r>
              <a:rPr lang="en-US" sz="10230" b="1" u="none" strike="noStrik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Q &amp; 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925" y="3924300"/>
            <a:ext cx="6248400" cy="58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93"/>
              </a:lnSpc>
              <a:spcBef>
                <a:spcPct val="0"/>
              </a:spcBef>
            </a:pPr>
            <a:r>
              <a:rPr lang="en-US" sz="327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질문 및 답변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04975" y="4800600"/>
            <a:ext cx="6667500" cy="238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51"/>
              </a:lnSpc>
              <a:spcBef>
                <a:spcPct val="0"/>
              </a:spcBef>
            </a:pPr>
            <a:r>
              <a:rPr lang="en-US" sz="267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발표를 들어주셔서</a:t>
            </a:r>
          </a:p>
          <a:p>
            <a:pPr marL="0" lvl="0" indent="0" algn="just">
              <a:lnSpc>
                <a:spcPts val="3751"/>
              </a:lnSpc>
              <a:spcBef>
                <a:spcPct val="0"/>
              </a:spcBef>
            </a:pPr>
            <a:r>
              <a:rPr lang="en-US" sz="267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감사합니다.</a:t>
            </a:r>
          </a:p>
          <a:p>
            <a:pPr marL="0" lvl="0" indent="0" algn="just">
              <a:lnSpc>
                <a:spcPts val="3751"/>
              </a:lnSpc>
              <a:spcBef>
                <a:spcPct val="0"/>
              </a:spcBef>
            </a:pPr>
            <a:endParaRPr lang="en-US" sz="2679" u="none" strike="noStrike">
              <a:solidFill>
                <a:srgbClr val="0812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751"/>
              </a:lnSpc>
              <a:spcBef>
                <a:spcPct val="0"/>
              </a:spcBef>
            </a:pPr>
            <a:r>
              <a:rPr lang="en-US" sz="267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궁금한 점이 있으시면</a:t>
            </a:r>
          </a:p>
          <a:p>
            <a:pPr marL="0" lvl="0" indent="0" algn="just">
              <a:lnSpc>
                <a:spcPts val="3751"/>
              </a:lnSpc>
              <a:spcBef>
                <a:spcPct val="0"/>
              </a:spcBef>
            </a:pPr>
            <a:r>
              <a:rPr lang="en-US" sz="2679" u="none" strike="noStrike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자유롭게 질문해 주세요.</a:t>
            </a:r>
          </a:p>
        </p:txBody>
      </p:sp>
      <p:sp>
        <p:nvSpPr>
          <p:cNvPr id="11" name="Freeform 11"/>
          <p:cNvSpPr/>
          <p:nvPr/>
        </p:nvSpPr>
        <p:spPr>
          <a:xfrm>
            <a:off x="-440836" y="574681"/>
            <a:ext cx="4385300" cy="879824"/>
          </a:xfrm>
          <a:custGeom>
            <a:avLst/>
            <a:gdLst/>
            <a:ahLst/>
            <a:cxnLst/>
            <a:rect l="l" t="t" r="r" b="b"/>
            <a:pathLst>
              <a:path w="4385300" h="879824">
                <a:moveTo>
                  <a:pt x="0" y="0"/>
                </a:moveTo>
                <a:lnTo>
                  <a:pt x="4385300" y="0"/>
                </a:lnTo>
                <a:lnTo>
                  <a:pt x="4385300" y="879825"/>
                </a:lnTo>
                <a:lnTo>
                  <a:pt x="0" y="8798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352425" y="714375"/>
            <a:ext cx="3324225" cy="53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66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번호팅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615</Words>
  <Application>Microsoft Office PowerPoint</Application>
  <PresentationFormat>사용자 지정</PresentationFormat>
  <Paragraphs>186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Telegraf</vt:lpstr>
      <vt:lpstr>Nanum Square Bold</vt:lpstr>
      <vt:lpstr>Calibri</vt:lpstr>
      <vt:lpstr>Poppins</vt:lpstr>
      <vt:lpstr>Inter Bold</vt:lpstr>
      <vt:lpstr>Poppins Bold</vt:lpstr>
      <vt:lpstr>Arial</vt:lpstr>
      <vt:lpstr>HY견고딕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번호팅 익명 랜덤 채팅 앱 소개서.pptx</dc:title>
  <cp:lastModifiedBy>박 건욱</cp:lastModifiedBy>
  <cp:revision>14</cp:revision>
  <dcterms:created xsi:type="dcterms:W3CDTF">2006-08-16T00:00:00Z</dcterms:created>
  <dcterms:modified xsi:type="dcterms:W3CDTF">2026-06-05T03:41:51Z</dcterms:modified>
  <dc:identifier>DAHKRXHObdw</dc:identifier>
</cp:coreProperties>
</file>